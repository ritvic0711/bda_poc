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361191f-2522-9120-967b-965c687af6a6}">
          <p14:sldIdLst>
            <p14:sldId id="256"/>
          </p14:sldIdLst>
        </p14:section>
        <p14:section name="Model" id="{c2ff59df-cef0-00b4-b675-3d2899430636}">
          <p14:sldIdLst>
            <p14:sldId id="257"/>
            <p14:sldId id="258"/>
            <p14:sldId id="259"/>
            <p14:sldId id="260"/>
            <p14:sldId id="261"/>
          </p14:sldIdLst>
        </p14:section>
        <p14:section name="Runtime" id="{84db60eb-42c2-4904-16ca-b8e0f4d446ab}">
          <p14:sldIdLst>
            <p14:sldId id="262"/>
            <p14:sldId id="263"/>
          </p14:sldIdLst>
        </p14:section>
        <p14:section name="Applied" id="{95173924-a32a-261e-d54a-a6d19c3b22a7}">
          <p14:sldIdLst>
            <p14:sldId id="264"/>
          </p14:sldIdLst>
        </p14:section>
        <p14:section name="Close" id="{4bcd6127-881d-eb36-1ba6-4a056e3866c0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frame: POC walkthrough, not a sales pitch. BDA is AWS's managed service for pulling structured data out of unstructured files — hand it a PDF, image, audio or video, get back clean structured output without fine-tuning models, managing OCR, or stitching a pipeline. I want the room to leave with the mental model, the AskGartner architecture we designed around it, and the things that tripped us up. ~12 minutes, then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frame before the mechanics. BDA is managed — its pitch is you stop assembling the extraction stack yourself. Four things: one API across four modalities, so one integration not four. It does the unglamorous work — OCR, model choice, prompting. The one engineers care about: every value comes with a confidence score and coordinates, so you auto-accept the confident ones and queue the rest. And output is shaped to drop into the rest of the Bedrock stack. This is the map; next slides are the territory.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keystone — everything hangs off it. Standard is 'tell me everything': reads the document, returns text, tables, figures, summary, same shape regardless of document type. Custom is the opposite — 'pull these specific fields.' You hand it a blueprint, a JSON schema listing fields; output is shaped like your schema. You don't choose — both attach to the same project, one job runs both. Per document: a standard-output file, and if a blueprint matched, a custom-output file too. Standard reads the document; custom fills a form you designed.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concept that trips people up. A segment is one logical sub-document the splitter pulled from your file. Splitter off: whole file is one segment, capped at 20 pages, feed more and the invoke is rejected. On: BDA classifies into logical documents, processes each on its own — still 20 pages per unit but up to 3,000 per file. You don't control boundaries; BDA infers them. Only knob is on/off. The claims-pack example makes it click. Gotcha: for the true page a value came from, read start_page_index — the per-segment index can restart at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standard extraction hands you: one file per segment, blocks lined up with granularity — document, page, element. The table: inside a segment an element is one structural piece, three types you deal with — TEXT, TABLE, FIGURE. Every element tells you reading order and location. The JSON on the right is the shape. Two non-obvious things: elements only show up with ELEMENT granularity — leave it out, you get flowing markdown. And the summary is one per sub-document, under document, not per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 output — only for segments where a blueprint matched. inference_result is the payload: your named fields, filled in, shaped like your schema. That's what most demos print. But the two fields I'd wire into production are the confidence signals. explainability_info gives per-field confidence — threshold to flag shaky extractions. matched_blueprint.confidence tells you how sure BDA was about the routing decision. Together they let you build an auto-accept-or-review gate. One practical takeaway: trust the confidence scores, build your review queue on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runtime calls, genuinely different. Async — the one the notebook uses — queues work, hands back a job ID, writes results to S3. Only one that handles the big stuff: long docs, splitter, audio, video. Sync returns results in the response, no S3 round-trip — lovely for a single image or short doc, but small inputs only. Rule of thumb: sync small/interactive, async large/batched/media. Production note: don't poll — pass a notification config, BDA fires an event. Gotcha: read job_metadata.json first and walk its paths; numbering shifts with the splitter.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 — matters for regulated data. BDA finds and masks sensitive data itself; no Guardrails bolt-on. Project-level setting, one block per modality. Three knobs: detectionMode is on-off for redaction vs flagging. detectionScope decides which pipelines get scrubbed — want both standard and custom. redactionMaskMode is cosmetic — ENTITY_TYPE keeps a typed tag so you see what was removed. Catalog is the Guardrails catalog. Caveat: redaction is destructive — if something downstream needs the real SSN, redact into one copy, keep an access-controlled unredacted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how we're actually putting BDA to work — the AskGartner design. A user uploads a file in the UI; the ingestion API hands back a presigned S3 URL so the browser streams the binary straight to S3, nothing holds raw bytes in compute. On landing, the security gate runs — GuardDuty malware scan, magic-byte verification, password-protection check — all before BDA is ever invoked. Then BDA extracts, writes markdown to the output bucket, a normalizer chunks it to fit the prompt budget, and the AskGartner agent on AgentCore retrieves that context and grounds the answer in Gartner research. Three things to hold: extraction is async and out-of-band, ~10s P95, isolated from the conversation loop; everything is session-scoped by actor/session/file IDs with S3 TTLs; and the malware verdict is a hard gate — files are never parsed before the safety verdict is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you've built a blueprint, accuracy comes down to per-field instruction text — hints like 'ICD-10 codes, comma-separated.' Normally trial and error. InvokeBlueprintOptimizationAsync automates it: hand it your blueprint plus 3–10 example docs with ground truth, it runs extraction, compares field by field, rewrites the instructions. Nothing fine-tuned at the model level — the instructions change. The useful part is what comes back: exact-match rate and F1 per field against ground truth — a real production-readiness signal. AWS's own example moved 90 to 92% — modest, but at volume a couple of points is a real chunk of the review queue gone.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things to carry out. One: the mental model — standard reads the document, custom fills a form you designed, both in one job. Two: the segment is the unit — 20 pages each, 3,000 per file with the splitter on; walk job_metadata.json, trust start_page_index. Three, the one I care about most: the confidence scores are the product — build the auto-accept-vs-review gate on explainability_info. Four: for anything production, async with events, PII redaction is native, and optimization gives a real F1-based go/no-go. Open question I'd like us to chew on — which of our file-heavy flows is the best first candidate to point this at? Let's open it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383280"/>
            <a:ext cx="1051560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BFD8D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 ENGINEERING CONNECT</a:t>
            </a:r>
            <a:endParaRPr lang="en-US" sz="14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Data Automation</a:t>
            </a:r>
            <a:endParaRPr lang="en-US" sz="4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822960" y="3383280"/>
            <a:ext cx="10515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BFD8D5"/>
                </a:solidFill>
              </a:rPr>
              <a:t>How it turns unstructured files into structured data — the mental model, the output shapes, the AskGartner architecture, and the gotchas we hit.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· images · audio · video   —   one managed pipeline, no model wrangling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ONE-LINER</a:t>
            </a:r>
            <a:endParaRPr lang="en-US" sz="13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service that reads messy files and returns structured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7568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Four modalities, one API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24328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A5568"/>
                </a:solidFill>
              </a:rPr>
              <a:t>Documents, images, audio and video all go through the same BDA API — no separate tool per file type.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55080" y="187452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207568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No model wrangling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624328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A5568"/>
                </a:solidFill>
              </a:rPr>
              <a:t>It handles OCR, model routing, prompting and orchestration. You don't fine-tune or manage pipelines.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17880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Confidence &amp; grounding built in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727448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A5568"/>
                </a:solidFill>
              </a:rPr>
              <a:t>Every extracted value carries a confidence score and bounding-box coordinates — route shaky ones to review.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55080" y="397764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417880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Feeds the downstream stack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4727448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A5568"/>
                </a:solidFill>
              </a:rPr>
              <a:t>Output drops into S3, Knowledge Bases for retrieval, or Bedrock Agents to trigger workflows.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CORE DISTINCTION</a:t>
            </a:r>
            <a:endParaRPr lang="en-US" sz="13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vs. custom — two different jobs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F4F6F8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871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213D"/>
                </a:solidFill>
              </a:rPr>
              <a:t>“Tell me everything”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632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Reads the file and returns all of it — text, tables, figures, a summary. Same output shape whether it's a claim form or a lease. No blueprint involved.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4315968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44074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standardOutputConfiguration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1421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4871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“Pull these fields”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0632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FD8D5"/>
                </a:solidFill>
              </a:rPr>
              <a:t>You hand it a blueprint — a JSON schema of the fields you want (claim number, patient name, total). Output is shaped like your schema, not a generic doc.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46520" y="4315968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1E3A8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0" y="44074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customOutputConfiguration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1663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You don't pick one. </a:t>
            </a:r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Both configs attach to the same project, so a single job runs standard extraction and your blueprint at once — one standard-output file per document, plus a custom-output file wherever a blueprint matched.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CONCEPT THAT TRIPS PEOPLE UP</a:t>
            </a:r>
            <a:endParaRPr lang="en-US" sz="13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Segments: one file becomes many sub-documents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4F6F8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Splitter off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</a:rPr>
              <a:t>Whole file is one segment, capped at 20 pages. Feed more and the invoke is rejected.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87452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4F6F8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2057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Splitter 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5146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</a:rPr>
              <a:t>BDA classifies the file into logical docs, each processed on its own. Still 20 pages per unit — but up to 3,000 across the file.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187452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4F6F8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057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You don't pick boundaries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5146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</a:rPr>
              <a:t>BDA infers them from content — a new form header, restarting page numbers. Your only knob is on/off.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10881360" cy="2148840"/>
          </a:xfrm>
          <a:prstGeom prst="roundRect">
            <a:avLst>
              <a:gd name="adj" fmla="val 3404"/>
            </a:avLst>
          </a:prstGeom>
          <a:solidFill>
            <a:srgbClr val="DBEAF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1148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4213D"/>
                </a:solidFill>
              </a:rPr>
              <a:t>Concrete: </a:t>
            </a:r>
            <a:pPr algn="l" indent="0" marL="0">
              <a:buNone/>
            </a:pPr>
            <a:r>
              <a:rPr lang="en-US" sz="1550" dirty="0">
                <a:solidFill>
                  <a:srgbClr val="14213D"/>
                </a:solidFill>
              </a:rPr>
              <a:t>a 10-page </a:t>
            </a:r>
            <a:pPr algn="l" indent="0" marL="0">
              <a:buNone/>
            </a:pPr>
            <a:r>
              <a:rPr lang="en-US" sz="155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claims-pack.pdf</a:t>
            </a:r>
            <a:pPr algn="l" indent="0" marL="0">
              <a:buNone/>
            </a:pPr>
            <a:r>
              <a:rPr lang="en-US" sz="1550" dirty="0">
                <a:solidFill>
                  <a:srgbClr val="14213D"/>
                </a:solidFill>
              </a:rPr>
              <a:t> might split into three segments — pages 1–4 a claim, 5–7 another, 8–10 an explanation of benefits. Three standard-output files; the two claims match the blueprint, the EOB comes back NO_MATCH.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23036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Gotcha: </a:t>
            </a:r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cite the real page from </a:t>
            </a:r>
            <a:pPr algn="l" indent="0" marL="0">
              <a:buNone/>
            </a:pPr>
            <a:r>
              <a:rPr lang="en-US" sz="14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metadata.start_page_index</a:t>
            </a:r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 — the per-segment </a:t>
            </a:r>
            <a:pPr algn="l" indent="0" marL="0">
              <a:buNone/>
            </a:pPr>
            <a:r>
              <a:rPr lang="en-US" sz="14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page_index</a:t>
            </a:r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 can restart at zero.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 OUTPUT</a:t>
            </a:r>
            <a:endParaRPr lang="en-US" sz="13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segment, organized by granularity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Blocks line up with the levels you request — </a:t>
            </a:r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, </a:t>
            </a:r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, </a:t>
            </a:r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. Each element is one structural piece with a type: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1421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8895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28895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it 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3741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33741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a paragraph or text block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877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3877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a detected table — csv / html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379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4379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an image, chart or logo + caption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846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Every element also carries </a:t>
            </a:r>
            <a:pPr algn="l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reading_order</a:t>
            </a:r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 and </a:t>
            </a:r>
            <a:pPr algn="l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locations</a:t>
            </a:r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 — where it sits on the page.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1828800"/>
            <a:ext cx="5120640" cy="3886200"/>
          </a:xfrm>
          <a:prstGeom prst="roundRect">
            <a:avLst>
              <a:gd name="adj" fmla="val 1882"/>
            </a:avLst>
          </a:prstGeom>
          <a:solidFill>
            <a:srgbClr val="1421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0" y="210312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FD8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"metadata"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FD8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 start_page_index,
    end_page_index, number_of_pages },
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"document"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FD8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 representation,
    statistics, summary },
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"pages"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FD8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 { page_index, … } ],
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"elements"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FD8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 { type, reading_order,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FD8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locations, representation } ]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FD8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</a:rPr>
              <a:t>Elements only appear if you ask for </a:t>
            </a:r>
            <a:pPr algn="l"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</a:rPr>
              <a:t> granularity. The summary lives under </a:t>
            </a:r>
            <a:pPr algn="l"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</a:rPr>
              <a:t> — one per sub-document, not per page.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OUTPUT</a:t>
            </a:r>
            <a:endParaRPr lang="en-US" sz="13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segments where a blueprint matched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3886200"/>
          </a:xfrm>
          <a:prstGeom prst="roundRect">
            <a:avLst>
              <a:gd name="adj" fmla="val 1882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"matched_blueprint"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 name,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confidence: 0.97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
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"document_class"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 type },
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"inference_result"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
    claim_number, patient_name,
    total_charge, balance_due,
    service_lines: [ … ] },
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"explainability_info"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geometry } ]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35040" y="182880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4F6F8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2029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inference_result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48716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Your fields, filled in — shaped exactly like the blueprint schema you wrote.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374904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39502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The two fields to wire in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43891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explainability_info</a:t>
            </a:r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 — per-field confidence you threshold on to flag shaky extractions.
</a:t>
            </a:r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matched_blueprint.confidence</a:t>
            </a:r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 — how sure BDA was about the routing itself.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This file only appears for segments where a blueprint matched. Those two confidence signals turn “it extracted something” into “auto-accept or send to review.”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RUNTIME</a:t>
            </a:r>
            <a:endParaRPr lang="en-US" sz="13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by default — submit, then poll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4F6F8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299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invoke_data_automation_async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8716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Queues the work and hands back a job ID immediately — no results inline. Handles the big stuff: long docs, the splitter, audio, video. Build a real pipeline on this.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4F6F8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299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invoke_data_automation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8716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Synchronous — results come back in the response, no S3 round-trip. Great for a single image or short doc. Meant for small inputs; don't throw a 500-page PDF at 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1421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9319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rule of thumb:  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sync for small and interactive, async for anything large, batched, or involving splitting or media.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3708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FD8D5"/>
                </a:solidFill>
              </a:rPr>
              <a:t>In production you skip the poll loop entirely — pass a </a:t>
            </a:r>
            <a:pPr algn="l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notificationConfiguration</a:t>
            </a:r>
            <a:pPr algn="l" indent="0" marL="0">
              <a:buNone/>
            </a:pPr>
            <a:r>
              <a:rPr lang="en-US" sz="1400" dirty="0">
                <a:solidFill>
                  <a:srgbClr val="BFD8D5"/>
                </a:solidFill>
              </a:rPr>
              <a:t> and BDA fires an EventBridge / SNS event when the job finishes. Same job, no busy-waiting.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212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Everything lands under your output prefix in S3. Read </a:t>
            </a:r>
            <a:pPr algn="l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job_metadata.json</a:t>
            </a:r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 first and walk its paths rather than hardcoding </a:t>
            </a:r>
            <a:pPr algn="l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standard_output/0/result.json</a:t>
            </a:r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 — the numbering shifts with how the splitter carved the file.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GOVERNANCE</a:t>
            </a:r>
            <a:endParaRPr lang="en-US" sz="13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&amp; redaction — built in, no Guardrails bolt-on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4F6F8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756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detectionMode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DETECTION flags where PII is + confidence, leaves the value in place. DETECTION_AND_REDACTION actually masks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8745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4F6F8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20756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detectionScope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5146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Which pipelines get scrubbed. Almost always want both STANDARD and CUSTOM, or a value leaks through one path while you redact the other.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8745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4F6F8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0756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redactionMaskMode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5146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ENTITY_TYPE swaps a value for a typed tag like [NAME] — you still see what was removed. PII blanks everything to a generic tag.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DBEAF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3708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</a:rPr>
              <a:t>Entity catalog is the same as Guardrails — names, addresses, phone/email, SSNs, bank &amp; card numbers, passports. Name up to 32 explicitly or pass ["ALL"].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Caveat: </a:t>
            </a:r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redaction is destructive by design. If a downstream step needs the real value, redact into one copy and keep an access-controlled unredacted copy — don't try to un-redact later.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WE'RE APPLYING IT — ASKGARTNER</a:t>
            </a:r>
            <a:endParaRPr lang="en-US" sz="13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as the document-ingestion backbone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717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</a:rPr>
              <a:t>AskGartner UI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97480" y="205740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88920" y="21717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</a:rPr>
              <a:t>Ingestion API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</a:rPr>
              <a:t>(presigned S3)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120640" y="205740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212080" y="21717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</a:rPr>
              <a:t>Security Gate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</a:rPr>
              <a:t>(GuardDuty)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543800" y="205740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9D8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35240" y="21717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</a:rPr>
              <a:t>S3 Landing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738360" y="205740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829800" y="21717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BDA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extraction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40280" y="2400300"/>
            <a:ext cx="4572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63440" y="2400300"/>
            <a:ext cx="4572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86600" y="2400300"/>
            <a:ext cx="4572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281160" y="2400300"/>
            <a:ext cx="4572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738360" y="324612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E9D8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829800" y="33604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</a:rPr>
              <a:t>S3 Output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</a:rPr>
              <a:t>(markdown)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43800" y="32461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4F6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35240" y="33604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</a:rPr>
              <a:t>Normalizer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</a:rPr>
              <a:t>&amp; Chunker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120640" y="324612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4F6F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212080" y="33604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</a:rPr>
              <a:t>AskGartner Agent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</a:rPr>
              <a:t>(AgentCore)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697480" y="324612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4F6F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788920" y="33604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</a:rPr>
              <a:t>Convologic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</a:rPr>
              <a:t>+ Gartner grounding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625328" y="2743200"/>
            <a:ext cx="0" cy="50292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738360" y="3589020"/>
            <a:ext cx="-4572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543800" y="3589020"/>
            <a:ext cx="-4572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120640" y="3589020"/>
            <a:ext cx="-4572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40080" y="429768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4F6F8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" y="4480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</a:rPr>
              <a:t>Async &amp; out-of-band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4892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10s P95 extraction isolated from the real-time agent conversation loop.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343400" y="429768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4F6F8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0" y="4480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</a:rPr>
              <a:t>Session-scoped &amp; ephemeral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0" y="4892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Partitioned by actor_id / session_id / file_id; S3 TTLs purge on thread expiry.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046720" y="429768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4F6F8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75320" y="4480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</a:rPr>
              <a:t>Security before parsing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8275320" y="4892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Magic-byte + password-protection + GuardDuty must pass before BDA is invoked.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TUNING</a:t>
            </a:r>
            <a:endParaRPr lang="en-US" sz="13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optimization — days of hand-tuning become a job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4A5568"/>
                </a:solidFill>
              </a:rPr>
              <a:t>Accuracy lives in the per-field </a:t>
            </a:r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4213D"/>
                </a:solidFill>
              </a:rPr>
              <a:t>instruction text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4A5568"/>
                </a:solidFill>
              </a:rPr>
              <a:t> — hints like “ICD-10 codes, comma-separated.” Normally trial and error.
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InvokeBlueprintOptimizationAsync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4A5568"/>
                </a:solidFill>
              </a:rPr>
              <a:t> automates the loop. Hand it 3–10 example docs plus ground-truth JSON; it compares, then rewrites the instructions to close the gaps.
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4A5568"/>
                </a:solidFill>
              </a:rPr>
              <a:t>Nothing is fine-tuned at the model level — it's the instructions that change.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263640" y="187452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1421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FD8D5"/>
                </a:solidFill>
              </a:rPr>
              <a:t>You get back real metrics against your ground truth: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Exact-match rate &amp; F1 per field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3108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BFD8D5"/>
                </a:solidFill>
              </a:rPr>
              <a:t>A real “is this production-ready” signal, not a gut feeling.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3749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90→92%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4892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BFD8D5"/>
                </a:solidFill>
              </a:rPr>
              <a:t>AWS's purchase-order example: aggregate exact match after optimization — a couple of points off your review queue at volume.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carry out of the room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327355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Standard reads the document; custom fills a form you designed. Both run in one job — you don't choose.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95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402336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Segments are the unit. 20 pages each, 3,000 per file with the splitter on. Walk job_metadata.json; trust start_page_index.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45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477316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Confidence scores are the product. Build the auto-accept vs. human-review gate on explainability_info.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495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5522976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</a:rPr>
              <a:t>Async + events for anything real. PII redaction is native; optimization gives an F1 go/no-go signal.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309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0A5FA"/>
                </a:solidFill>
              </a:rPr>
              <a:t>Open question: </a:t>
            </a:r>
            <a:pPr algn="l" indent="0" marL="0">
              <a:buNone/>
            </a:pPr>
            <a:r>
              <a:rPr lang="en-US" sz="1500" dirty="0">
                <a:solidFill>
                  <a:srgbClr val="BFD8D5"/>
                </a:solidFill>
              </a:rPr>
              <a:t>which of our file-heavy flows is the best first candidate? — discussion</a:t>
            </a:r>
            <a:endParaRPr lang="en-US" sz="1500" dirty="0"/>
          </a:p>
        </p:txBody>
      </p:sp>
      <p:sp>
        <p:nvSpPr>
          <p:cNvPr id="14" name="Text 0"/>
          <p:cNvSpPr/>
          <p:nvPr>
            <p:ph idx="102" type="body" hasCustomPrompt="1"/>
          </p:nvPr>
        </p:nvSpPr>
        <p:spPr>
          <a:xfrm>
            <a:off x="822960" y="3383280"/>
            <a:ext cx="10515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DA Engineering">
  <a:themeElements>
    <a:clrScheme name="BDA Engineering">
      <a:dk1>
        <a:srgbClr val="14213D"/>
      </a:dk1>
      <a:lt1>
        <a:srgbClr val="FFFFFF"/>
      </a:lt1>
      <a:dk2>
        <a:srgbClr val="4A5568"/>
      </a:dk2>
      <a:lt2>
        <a:srgbClr val="F4F6F8"/>
      </a:lt2>
      <a:accent1>
        <a:srgbClr val="2563EB"/>
      </a:accent1>
      <a:accent2>
        <a:srgbClr val="60A5FA"/>
      </a:accent2>
      <a:accent3>
        <a:srgbClr val="1E3A8A"/>
      </a:accent3>
      <a:accent4>
        <a:srgbClr val="DBEAFE"/>
      </a:accent4>
      <a:accent5>
        <a:srgbClr val="BFD8D5"/>
      </a:accent5>
      <a:accent6>
        <a:srgbClr val="FBBF24"/>
      </a:accent6>
      <a:hlink>
        <a:srgbClr val="2563EB"/>
      </a:hlink>
      <a:folHlink>
        <a:srgbClr val="1E3A8A"/>
      </a:folHlink>
    </a:clrScheme>
    <a:fontScheme name="BDA Engineerin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ScoreNLearn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Bedrock Data Automation</dc:title>
  <dc:subject>PptxGenJS Presentation</dc:subject>
  <dc:creator>Jag</dc:creator>
  <cp:lastModifiedBy>Jag</cp:lastModifiedBy>
  <cp:revision>1</cp:revision>
  <dcterms:created xsi:type="dcterms:W3CDTF">2026-10-18T05:46:12Z</dcterms:created>
  <dcterms:modified xsi:type="dcterms:W3CDTF">2026-10-18T05:46:12Z</dcterms:modified>
</cp:coreProperties>
</file>