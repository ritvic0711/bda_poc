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DA" id="{7b23945f-01b8-ec32-b0cc-3eb72903d20c}">
          <p14:sldIdLst>
            <p14:sldId id="256"/>
            <p14:sldId id="257"/>
            <p14:sldId id="258"/>
            <p14:sldId id="259"/>
            <p14:sldId id="260"/>
          </p14:sldIdLst>
        </p14:section>
        <p14:section name="AskGartner" id="{7cc3a6eb-3945-fad7-1626-cada3a6a7248}">
          <p14:sldIdLst>
            <p14:sldId id="261"/>
            <p14:sldId id="262"/>
            <p14:sldId id="263"/>
            <p14:sldId id="264"/>
            <p14:sldId id="265"/>
            <p14:sldId id="266"/>
            <p14:sldId id="267"/>
          </p14:sldIdLst>
        </p14:section>
        <p14:section name="Close" id="{e4fa7949-7cd4-6f57-8571-78dc19a81b86}">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POC walkthrough, not a sales pitch. The short version: AskGartner lets a user upload their own documents, ask a question, and get an answer grounded in Gartner research AND the content of what they uploaded. Bedrock Data Automation — BDA — is the engine that reads those documents. I'll spend the first few slides on just enough BDA to make the design legible, then the bulk of the time on the AskGartner architecture itself. ~18 minutes,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on the engine, then we move to the real subject. BDA is a managed service — you stop assembling the extraction stack yourself. One API across documents, images, audio and video. It does the unglamorous work: OCR, model choice, prompting. Every extracted value comes back with a confidence score and coordinates, which is what lets us gate on quality. And critically for us, its output is shaped to drop straight into Knowledge Bases and Agents — which is exactly the downstream AskGartner runs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know about how BDA works. First, it does two jobs: standard is 'tell me everything' — text, tables, figures, same shape for any document. Custom is 'pull these fields' — you hand it a JSON blueprint and output matches your schema. Both attach to the same project and run in one job. For AskGartner we lean on standard — we want everything in the document as clean markdown. Second, the unit of work is a segment: a big file is split into logical sub-documents, 20 pages each, up to 3,000 across the file. One gotcha worth carrying: to cite the true page a value came from, read start_page_index, because the per-segment index restarts at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BDA hands back, one slide. Standard output is one file per segment: a document block with the whole thing as markdown, text and HTML; a pages array; and, if you ask for element granularity, the individual tables, figures and text blocks with their reading order and location. The left panel is that shape. Two takeaways on the right. The markdown representation is the thing the AskGartner agent actually reads — reading-order text, tables, figure captions, one LLM-ready blob per sub-document. And the confidence scores are the real product: custom output attaches a per-field confidence you threshold on, so low-confidence fields go to review and the confident ones auto-approve. That's the quality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runtime facts that the AskGartner design leans on directly. First, BDA is async: you submit, get a job ID, results land in S3 — and in production you don't poll, you pass a notification config and get an EventBridge or SNS event when it's done. That's what lets extraction run out-of-band from the conversation loop. Second, PII detection and redaction is native — a project-level config scrubs names, SSNs, bank and card numbers across both pipelines, so you don't bolt Guardrails on. One caveat: redaction is destructive, so keep an access-controlled unredacted copy if a downstream step needs the real value. The dark strip is the point of the slide: async-plus-events and native PII are the two properties the AskGartner architecture is built on. Now let's get to that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thing we're building, and it's the heart of the talk. AskGartner is a user-facing experience: you upload one or more files, you ask a question, and you get an agent-generated answer that draws on both your own uploaded documents and Gartner's published research corpus. That 'and' is the whole product — it bridges external, client-owned context with Gartner's research. The design doc frames it well: it turns the traditionally slow and rigid document-review process into a scalable, near-instant conversational review workflow. Everything from here is how we make that real: the components, the data flows, how it fails safely, how data is governed, and how it survives a region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backbone. Top row, left to right: the UI captures the file and the question; the ingestion API hands back a presigned S3 URL so the browser streams the binary straight to S3 — nothing in compute ever holds the raw bytes; the security gate runs GuardDuty, magic-byte and password-protection checks; the file lands in S3; BDA extracts. Bottom row, right to left: BDA writes markdown to the output bucket, a normalizer chunks it to the token budget, and the AskGartner agent on AgentCore retrieves that context and grounds the answer with Convologic plus Gartner research. The four components underneath are the ones worth naming: the ingestion gateway that mints presigned URLs and tracks file state; the security gate; the normalizer that turns raw BDA JSON into chunked markdown; and the AgentCore context tool that exposes MCP tools so the agent pulls context by actor, session and file id. Hold those names — the data flows next make them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doc breaks it into three paths, and this is the operational heart. Upload path: the client sends metadata first, the API validates and returns a presigned URL, the browser streams straight to S3, and on landing every security check runs — nothing skipped for latency — with PPT and PPTX converted to PDF after the gate. Processing path: the validated file is dispatched async to BDA, roughly a 10-second P95 extraction fully isolated from the conversation loop; BDA pulls reading-order text, tables and visual elements, with OCR on scanned pages; the markdown lands in chat history and each file shows as its own chip. Answer path: submit is disabled until every attachment resolves or is removed — so you never ask a question against a half-processed file; then Convologic retrieves the markdown and applies Gartner grounding. One important scoping rule: document awareness persists only within the same thread.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that make AskGartner production-grade rather than a demo. On the left, grounding tiers decide what kind of answer you get. T1 is a full structured review with sources — strong Gartner coverage plus the user's document. T2 is where research coverage is thin or absent — it still answers, but flagged. T3 is an unsupported use case, and instead of hallucinating it routes to a human analyst, carrying the session context and the file attachments through to the existing inquiry workstream — so the user doesn't start over. On the right, the failure model: anything invalid, oversized, over the two-file limit, mismatched, password-protected or corrupt is rejected immediately with a clear error; GuardDuty blocks infected files; extraction that runs past twice the target latency is marked failed so the user re-uploads instead of staring at a spinner; and if extraction fails after the question is already in flight, the conversation recovers gracefully — it answers without the attachment or asks the user to re-attach. The theme: it fails loudly and never hangs the thread.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Governance — this is the slide the security-minded people in the room will care about. The table is the data lifecycle: the raw binary lands in an S3 raw bucket keyed by session and file, thread-scoped TTL; the intermediate BDA JSON goes to an extracted bucket and is purged right after normalization; the parsed markdown lives in chat history, retained only for the active thread; and a Postgres tracking record keyed by session and file follows the session TTL. The through-line is at the bottom: every artifact is partitioned strictly by session_id and actor_id — there's no cross-session persistence and no multi-session document libraries in v1. Uploads are treated as ephemeral input context only; the system deliberately does not classify attorney-client privilege or confidentiality — that stays client-managed. And telemetry never logs raw file contents or PII. Everything is session-scoped, ephemeral, and isolated by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Reliability and observability — the production-readiness slide. On DR: the Document Ingestion Service runs active in both us-east-1 and us-west-2. Users upload to the regional S3 landing bucket, and the raw and output buckets stay synchronized across regions with bi-directional cross-region replication. The active region's extraction service invokes BDA and writes to its regional output, and Convologic reads document context from that active source. Two design rules carry here too: the ingestion and workers are stateless so they absorb a slow extraction without blocking the conversation path, and the malware verdict and the extraction stay separate steps — we never parse a file before its safety verdict is in. On observability: we track document-ready latency across every stage, throughput and queue depth and worker saturation, success and failure by stage, extraction quality, the confidence scores for grounding readiness, and cost per processed file — all on CloudWatch, Splunk and Dynatrace with alerts for stuck jobs, dead-letter-queue growth and cost anomalies. It's fully instrumented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Pulling it together: why BDA is the right engine for this product specifically. It's multimodal through one integration — strategy decks, architecture diagrams, scanned PDFs, images, which are exactly the messy artifacts clients actually upload. It's out-of-band by design — async plus events keep extraction off the conversation's critical path. It returns markdown the agent can ground on directly, so there's no custom document parser to build and maintain. Its confidence scores tell us when an extraction is trustworthy enough to answer on versus flag or route to an analyst — that feeds the grounding tiers. PII redaction is native, so client documents are scrubbed before they rest in S3. And it's managed — no OCR stack, no model routing, no fine-tuning to own; Terraform provisions it and the team spends its time on product instead of infrastructure. That's the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to carry out. One: AskGartner is the product — Gartner research plus the user's own documents — and BDA is the engine underneath that reads the documents; don't conflate the two. Two: extraction is async and out-of-band, so the conversation never blocks on a slow parse, and the security verdict always clears before anything is parsed. Three: everything is session-scoped and ephemeral — isolation by actor, session and file, no cross-session persistence in v1. Four: it degrades gracefully by grounding tier, with T3 routing to a human analyst with full context, and it runs multi-region active and fully instrumented. The open question I'd like us to chew on: beyond AskGartner, what's the next document-heavy flow in our stack worth pointing this same pipeline at? Let's open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421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22960" y="868680"/>
            <a:ext cx="10515600" cy="365760"/>
          </a:xfrm>
          <a:prstGeom prst="rect">
            <a:avLst/>
          </a:prstGeom>
          <a:noFill/>
          <a:ln/>
        </p:spPr>
        <p:txBody>
          <a:bodyPr wrap="square" rtlCol="0"/>
          <a:lstStyle>
            <a:lvl1pPr indent="0" marL="0">
              <a:buNone/>
              <a:defRPr lang="en-US" sz="1400" b="1" spc="200" kern="0" dirty="0">
                <a:solidFill>
                  <a:srgbClr val="60A5FA"/>
                </a:solidFill>
                <a:latin typeface="Consolas" pitchFamily="34" charset="0"/>
                <a:ea typeface="Consolas" pitchFamily="34" charset="-122"/>
                <a:cs typeface="Consolas" pitchFamily="34" charset="-120"/>
              </a:defRPr>
            </a:lvl1pPr>
          </a:lstStyle>
          <a:p>
            <a:pPr indent="0" marL="0">
              <a:buNone/>
            </a:pPr>
            <a:endParaRPr lang="en-US" sz="1400" dirty="0"/>
          </a:p>
        </p:txBody>
      </p:sp>
      <p:sp>
        <p:nvSpPr>
          <p:cNvPr id="3" name="Text 0"/>
          <p:cNvSpPr/>
          <p:nvPr>
            <p:ph idx="101" type="title" hasCustomPrompt="1"/>
          </p:nvPr>
        </p:nvSpPr>
        <p:spPr>
          <a:xfrm>
            <a:off x="822960" y="1280160"/>
            <a:ext cx="10515600" cy="2011680"/>
          </a:xfrm>
          <a:prstGeom prst="rect">
            <a:avLst/>
          </a:prstGeom>
          <a:noFill/>
          <a:ln/>
        </p:spPr>
        <p:txBody>
          <a:bodyPr wrap="square" rtlCol="0"/>
          <a:lstStyle>
            <a:lvl1pPr algn="l" indent="0" marL="0">
              <a:buNone/>
              <a:defRPr lang="en-US" sz="4400" b="1" dirty="0">
                <a:solidFill>
                  <a:srgbClr val="FFFFFF"/>
                </a:solidFill>
                <a:latin typeface="Calibri" pitchFamily="34" charset="0"/>
                <a:ea typeface="Calibri" pitchFamily="34" charset="-122"/>
                <a:cs typeface="Calibri" pitchFamily="34" charset="-120"/>
              </a:defRPr>
            </a:lvl1pPr>
          </a:lstStyle>
          <a:p>
            <a:pPr algn="l" indent="0" marL="0">
              <a:buNone/>
            </a:pPr>
            <a:endParaRPr lang="en-US" sz="4400" dirty="0"/>
          </a:p>
        </p:txBody>
      </p:sp>
      <p:sp>
        <p:nvSpPr>
          <p:cNvPr id="4" name="Text 0"/>
          <p:cNvSpPr/>
          <p:nvPr>
            <p:ph idx="102" type="body" hasCustomPrompt="1"/>
          </p:nvPr>
        </p:nvSpPr>
        <p:spPr>
          <a:xfrm>
            <a:off x="822960" y="3383280"/>
            <a:ext cx="10515600" cy="2560320"/>
          </a:xfrm>
          <a:prstGeom prst="rect">
            <a:avLst/>
          </a:prstGeom>
          <a:noFill/>
          <a:ln/>
        </p:spPr>
        <p:txBody>
          <a:bodyPr wrap="square" rtlCol="0"/>
          <a:lstStyle>
            <a:lvl1pPr algn="l" indent="0" marL="0">
              <a:buNone/>
              <a:defRPr lang="en-US" sz="1800" dirty="0">
                <a:solidFill>
                  <a:srgbClr val="BFD8D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10881360" cy="320040"/>
          </a:xfrm>
          <a:prstGeom prst="rect">
            <a:avLst/>
          </a:prstGeom>
          <a:noFill/>
          <a:ln/>
        </p:spPr>
        <p:txBody>
          <a:bodyPr wrap="square" rtlCol="0"/>
          <a:lstStyle>
            <a:lvl1pPr indent="0" marL="0">
              <a:buNone/>
              <a:defRPr lang="en-US" sz="1300" b="1" spc="200" kern="0" dirty="0">
                <a:solidFill>
                  <a:srgbClr val="2563EB"/>
                </a:solidFill>
                <a:latin typeface="Consolas" pitchFamily="34" charset="0"/>
                <a:ea typeface="Consolas" pitchFamily="34" charset="-122"/>
                <a:cs typeface="Consolas" pitchFamily="34" charset="-120"/>
              </a:defRPr>
            </a:lvl1pPr>
          </a:lstStyle>
          <a:p>
            <a:pPr indent="0" marL="0">
              <a:buNone/>
            </a:pPr>
            <a:endParaRPr lang="en-US" sz="1300" dirty="0"/>
          </a:p>
        </p:txBody>
      </p:sp>
      <p:sp>
        <p:nvSpPr>
          <p:cNvPr id="3" name="Text 0"/>
          <p:cNvSpPr/>
          <p:nvPr>
            <p:ph idx="101" type="title" hasCustomPrompt="1"/>
          </p:nvPr>
        </p:nvSpPr>
        <p:spPr>
          <a:xfrm>
            <a:off x="640080" y="777240"/>
            <a:ext cx="10881360" cy="868680"/>
          </a:xfrm>
          <a:prstGeom prst="rect">
            <a:avLst/>
          </a:prstGeom>
          <a:noFill/>
          <a:ln/>
        </p:spPr>
        <p:txBody>
          <a:bodyPr wrap="square" rtlCol="0"/>
          <a:lstStyle>
            <a:lvl1pPr algn="l" indent="0" marL="0">
              <a:buNone/>
              <a:defRPr lang="en-US" sz="3200" b="1" dirty="0">
                <a:solidFill>
                  <a:srgbClr val="14213D"/>
                </a:solidFill>
                <a:latin typeface="Calibri" pitchFamily="34" charset="0"/>
                <a:ea typeface="Calibri" pitchFamily="34" charset="-122"/>
                <a:cs typeface="Calibri" pitchFamily="34" charset="-120"/>
              </a:defRPr>
            </a:lvl1pPr>
          </a:lstStyle>
          <a:p>
            <a:pPr algn="l" indent="0" marL="0">
              <a:buNone/>
            </a:pPr>
            <a:endParaRPr lang="en-US" sz="3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ph idx="100" type="body" hasCustomPrompt="1"/>
          </p:nvPr>
        </p:nvSpPr>
        <p:spPr>
          <a:xfrm>
            <a:off x="822960" y="868680"/>
            <a:ext cx="10515600" cy="365760"/>
          </a:xfrm>
          <a:prstGeom prst="rect">
            <a:avLst/>
          </a:prstGeom>
          <a:noFill/>
          <a:ln/>
        </p:spPr>
        <p:txBody>
          <a:bodyPr wrap="square" lIns="0" tIns="0" rIns="0" bIns="0" rtlCol="0" anchor="t"/>
          <a:lstStyle/>
          <a:p>
            <a:pPr algn="l" indent="0" marL="0">
              <a:buNone/>
            </a:pPr>
            <a:r>
              <a:rPr lang="en-US" sz="1400" b="1" spc="200" kern="0" dirty="0">
                <a:solidFill>
                  <a:srgbClr val="60A5FA"/>
                </a:solidFill>
                <a:latin typeface="Consolas" pitchFamily="34" charset="0"/>
                <a:ea typeface="Consolas" pitchFamily="34" charset="-122"/>
                <a:cs typeface="Consolas" pitchFamily="34" charset="-120"/>
              </a:rPr>
              <a:t>WEEKLY ENGINEERING CONNECT</a:t>
            </a:r>
            <a:endParaRPr lang="en-US" sz="1400" dirty="0"/>
          </a:p>
        </p:txBody>
      </p:sp>
      <p:sp>
        <p:nvSpPr>
          <p:cNvPr id="3" name="Text 0"/>
          <p:cNvSpPr txBox="1"/>
          <p:nvPr>
            <p:ph idx="101" type="title" hasCustomPrompt="1"/>
          </p:nvPr>
        </p:nvSpPr>
        <p:spPr>
          <a:xfrm>
            <a:off x="822960" y="1280160"/>
            <a:ext cx="10515600" cy="2011680"/>
          </a:xfrm>
          <a:prstGeom prst="rect">
            <a:avLst/>
          </a:prstGeom>
          <a:noFill/>
          <a:ln/>
        </p:spPr>
        <p:txBody>
          <a:bodyPr wrap="square" lIns="0" tIns="0" rIns="0" bIns="0" rtlCol="0" anchor="t"/>
          <a:lstStyle/>
          <a:p>
            <a:pPr algn="l" indent="0" marL="0">
              <a:buNone/>
            </a:pPr>
            <a:r>
              <a:rPr lang="en-US" sz="4400" b="1" dirty="0">
                <a:solidFill>
                  <a:srgbClr val="FFFFFF"/>
                </a:solidFill>
                <a:latin typeface="Calibri" pitchFamily="34" charset="0"/>
                <a:ea typeface="Calibri" pitchFamily="34" charset="-122"/>
                <a:cs typeface="Calibri" pitchFamily="34" charset="-120"/>
              </a:rPr>
              <a:t>AskGartner on Bedrock</a:t>
            </a:r>
            <a:endParaRPr lang="en-US" sz="4400" dirty="0"/>
          </a:p>
          <a:p>
            <a:pPr algn="l" indent="0" marL="0">
              <a:buNone/>
            </a:pPr>
            <a:r>
              <a:rPr lang="en-US" sz="4400" b="1" dirty="0">
                <a:solidFill>
                  <a:srgbClr val="FFFFFF"/>
                </a:solidFill>
                <a:latin typeface="Calibri" pitchFamily="34" charset="0"/>
                <a:ea typeface="Calibri" pitchFamily="34" charset="-122"/>
                <a:cs typeface="Calibri" pitchFamily="34" charset="-120"/>
              </a:rPr>
              <a:t>Data Automation</a:t>
            </a:r>
            <a:endParaRPr lang="en-US" sz="4400" dirty="0"/>
          </a:p>
        </p:txBody>
      </p:sp>
      <p:sp>
        <p:nvSpPr>
          <p:cNvPr id="4" name="Text 0"/>
          <p:cNvSpPr txBox="1"/>
          <p:nvPr>
            <p:ph idx="102" type="body" hasCustomPrompt="1"/>
          </p:nvPr>
        </p:nvSpPr>
        <p:spPr>
          <a:xfrm>
            <a:off x="822960" y="3383280"/>
            <a:ext cx="10515600" cy="2560320"/>
          </a:xfrm>
          <a:prstGeom prst="rect">
            <a:avLst/>
          </a:prstGeom>
          <a:noFill/>
          <a:ln/>
        </p:spPr>
        <p:txBody>
          <a:bodyPr wrap="square" lIns="0" tIns="0" rIns="0" bIns="0" rtlCol="0" anchor="t"/>
          <a:lstStyle/>
          <a:p>
            <a:pPr algn="l" indent="0" marL="0">
              <a:spcAft>
                <a:spcPts val="1400"/>
              </a:spcAft>
              <a:buNone/>
            </a:pPr>
            <a:r>
              <a:rPr lang="en-US" sz="2000" dirty="0">
                <a:solidFill>
                  <a:srgbClr val="BFD8D5"/>
                </a:solidFill>
              </a:rPr>
              <a:t>How we turn a user's uploaded documents into grounded, agent-generated answers — the BDA foundation, then the AskGartner design end to end.</a:t>
            </a:r>
            <a:endParaRPr lang="en-US" sz="1800" dirty="0"/>
          </a:p>
          <a:p>
            <a:pPr algn="l" indent="0" marL="0">
              <a:buNone/>
            </a:pPr>
            <a:r>
              <a:rPr lang="en-US" sz="1500" dirty="0">
                <a:solidFill>
                  <a:srgbClr val="60A5FA"/>
                </a:solidFill>
                <a:latin typeface="Consolas" pitchFamily="34" charset="0"/>
                <a:ea typeface="Consolas" pitchFamily="34" charset="-122"/>
                <a:cs typeface="Consolas" pitchFamily="34" charset="-120"/>
              </a:rPr>
              <a:t>upload · extract · ground · answer   —   async, session-scoped, out-of-band</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ph idx="100" type="body" hasCustomPrompt="1"/>
          </p:nvPr>
        </p:nvSpPr>
        <p:spPr>
          <a:xfrm>
            <a:off x="640080" y="457200"/>
            <a:ext cx="10881360" cy="320040"/>
          </a:xfrm>
          <a:prstGeom prst="rect">
            <a:avLst/>
          </a:prstGeom>
          <a:noFill/>
          <a:ln/>
        </p:spPr>
        <p:txBody>
          <a:bodyPr wrap="square" lIns="0" tIns="0" rIns="0" bIns="0" rtlCol="0" anchor="t"/>
          <a:lstStyle/>
          <a:p>
            <a:pPr algn="l" indent="0" marL="0">
              <a:buNone/>
            </a:pPr>
            <a:r>
              <a:rPr lang="en-US" sz="1300" b="1" spc="200" kern="0" dirty="0">
                <a:solidFill>
                  <a:srgbClr val="2563EB"/>
                </a:solidFill>
                <a:latin typeface="Consolas" pitchFamily="34" charset="0"/>
                <a:ea typeface="Consolas" pitchFamily="34" charset="-122"/>
                <a:cs typeface="Consolas" pitchFamily="34" charset="-120"/>
              </a:rPr>
              <a:t>THE ENGINE — IN ONE SLIDE</a:t>
            </a:r>
            <a:endParaRPr lang="en-US" sz="1300" dirty="0"/>
          </a:p>
        </p:txBody>
      </p:sp>
      <p:sp>
        <p:nvSpPr>
          <p:cNvPr id="3" name="Text 0"/>
          <p:cNvSpPr txBox="1"/>
          <p:nvPr>
            <p:ph idx="101" type="title" hasCustomPrompt="1"/>
          </p:nvPr>
        </p:nvSpPr>
        <p:spPr>
          <a:xfrm>
            <a:off x="640080" y="777240"/>
            <a:ext cx="10881360" cy="868680"/>
          </a:xfrm>
          <a:prstGeom prst="rect">
            <a:avLst/>
          </a:prstGeom>
          <a:noFill/>
          <a:ln/>
        </p:spPr>
        <p:txBody>
          <a:bodyPr wrap="square" lIns="0" tIns="0" rIns="0" bIns="0" rtlCol="0" anchor="t"/>
          <a:lstStyle/>
          <a:p>
            <a:pPr algn="l" indent="0" marL="0">
              <a:buNone/>
            </a:pPr>
            <a:r>
              <a:rPr lang="en-US" sz="3200" b="1" dirty="0">
                <a:solidFill>
                  <a:srgbClr val="14213D"/>
                </a:solidFill>
                <a:latin typeface="Calibri" pitchFamily="34" charset="0"/>
                <a:ea typeface="Calibri" pitchFamily="34" charset="-122"/>
                <a:cs typeface="Calibri" pitchFamily="34" charset="-120"/>
              </a:rPr>
              <a:t>BDA: a managed service that reads messy files</a:t>
            </a:r>
            <a:endParaRPr lang="en-US" sz="3200" dirty="0"/>
          </a:p>
        </p:txBody>
      </p:sp>
      <p:sp>
        <p:nvSpPr>
          <p:cNvPr id="4" name="Shape 2"/>
          <p:cNvSpPr/>
          <p:nvPr/>
        </p:nvSpPr>
        <p:spPr>
          <a:xfrm>
            <a:off x="640080" y="1874520"/>
            <a:ext cx="5166360" cy="1828800"/>
          </a:xfrm>
          <a:prstGeom prst="roundRect">
            <a:avLst>
              <a:gd name="adj" fmla="val 4000"/>
            </a:avLst>
          </a:prstGeom>
          <a:solidFill>
            <a:srgbClr val="F4F6F8"/>
          </a:solidFill>
          <a:ln w="12700">
            <a:solidFill>
              <a:srgbClr val="E3E6E4"/>
            </a:solidFill>
            <a:prstDash val="solid"/>
          </a:ln>
        </p:spPr>
      </p:sp>
      <p:sp>
        <p:nvSpPr>
          <p:cNvPr id="5" name="Text 3"/>
          <p:cNvSpPr txBox="1"/>
          <p:nvPr/>
        </p:nvSpPr>
        <p:spPr>
          <a:xfrm>
            <a:off x="914400" y="2075688"/>
            <a:ext cx="4617720" cy="457200"/>
          </a:xfrm>
          <a:prstGeom prst="rect">
            <a:avLst/>
          </a:prstGeom>
          <a:noFill/>
          <a:ln/>
        </p:spPr>
        <p:txBody>
          <a:bodyPr wrap="square" lIns="0" tIns="0" rIns="0" bIns="0" rtlCol="0" anchor="t"/>
          <a:lstStyle/>
          <a:p>
            <a:pPr algn="l" indent="0" marL="0">
              <a:buNone/>
            </a:pPr>
            <a:r>
              <a:rPr lang="en-US" sz="1800" b="1" dirty="0">
                <a:solidFill>
                  <a:srgbClr val="14213D"/>
                </a:solidFill>
              </a:rPr>
              <a:t>Four modalities, one API</a:t>
            </a:r>
            <a:endParaRPr lang="en-US" sz="1800" dirty="0"/>
          </a:p>
        </p:txBody>
      </p:sp>
      <p:sp>
        <p:nvSpPr>
          <p:cNvPr id="6" name="Text 4"/>
          <p:cNvSpPr txBox="1"/>
          <p:nvPr/>
        </p:nvSpPr>
        <p:spPr>
          <a:xfrm>
            <a:off x="914400" y="2624328"/>
            <a:ext cx="4617720" cy="914400"/>
          </a:xfrm>
          <a:prstGeom prst="rect">
            <a:avLst/>
          </a:prstGeom>
          <a:noFill/>
          <a:ln/>
        </p:spPr>
        <p:txBody>
          <a:bodyPr wrap="square" lIns="0" tIns="0" rIns="0" bIns="0" rtlCol="0" anchor="t"/>
          <a:lstStyle/>
          <a:p>
            <a:pPr algn="l" indent="0" marL="0">
              <a:buNone/>
            </a:pPr>
            <a:r>
              <a:rPr lang="en-US" sz="1450" dirty="0">
                <a:solidFill>
                  <a:srgbClr val="4A5568"/>
                </a:solidFill>
              </a:rPr>
              <a:t>Documents, images, audio and video through the same API — no separate tool per file type.</a:t>
            </a:r>
            <a:endParaRPr lang="en-US" sz="1450" dirty="0"/>
          </a:p>
        </p:txBody>
      </p:sp>
      <p:sp>
        <p:nvSpPr>
          <p:cNvPr id="7" name="Shape 5"/>
          <p:cNvSpPr/>
          <p:nvPr/>
        </p:nvSpPr>
        <p:spPr>
          <a:xfrm>
            <a:off x="6355080" y="1874520"/>
            <a:ext cx="5166360" cy="1828800"/>
          </a:xfrm>
          <a:prstGeom prst="roundRect">
            <a:avLst>
              <a:gd name="adj" fmla="val 4000"/>
            </a:avLst>
          </a:prstGeom>
          <a:solidFill>
            <a:srgbClr val="F4F6F8"/>
          </a:solidFill>
          <a:ln w="12700">
            <a:solidFill>
              <a:srgbClr val="E3E6E4"/>
            </a:solidFill>
            <a:prstDash val="solid"/>
          </a:ln>
        </p:spPr>
      </p:sp>
      <p:sp>
        <p:nvSpPr>
          <p:cNvPr id="8" name="Text 6"/>
          <p:cNvSpPr txBox="1"/>
          <p:nvPr/>
        </p:nvSpPr>
        <p:spPr>
          <a:xfrm>
            <a:off x="6629400" y="2075688"/>
            <a:ext cx="4617720" cy="457200"/>
          </a:xfrm>
          <a:prstGeom prst="rect">
            <a:avLst/>
          </a:prstGeom>
          <a:noFill/>
          <a:ln/>
        </p:spPr>
        <p:txBody>
          <a:bodyPr wrap="square" lIns="0" tIns="0" rIns="0" bIns="0" rtlCol="0" anchor="t"/>
          <a:lstStyle/>
          <a:p>
            <a:pPr algn="l" indent="0" marL="0">
              <a:buNone/>
            </a:pPr>
            <a:r>
              <a:rPr lang="en-US" sz="1800" b="1" dirty="0">
                <a:solidFill>
                  <a:srgbClr val="14213D"/>
                </a:solidFill>
              </a:rPr>
              <a:t>No model wrangling</a:t>
            </a:r>
            <a:endParaRPr lang="en-US" sz="1800" dirty="0"/>
          </a:p>
        </p:txBody>
      </p:sp>
      <p:sp>
        <p:nvSpPr>
          <p:cNvPr id="9" name="Text 7"/>
          <p:cNvSpPr txBox="1"/>
          <p:nvPr/>
        </p:nvSpPr>
        <p:spPr>
          <a:xfrm>
            <a:off x="6629400" y="2624328"/>
            <a:ext cx="4617720" cy="914400"/>
          </a:xfrm>
          <a:prstGeom prst="rect">
            <a:avLst/>
          </a:prstGeom>
          <a:noFill/>
          <a:ln/>
        </p:spPr>
        <p:txBody>
          <a:bodyPr wrap="square" lIns="0" tIns="0" rIns="0" bIns="0" rtlCol="0" anchor="t"/>
          <a:lstStyle/>
          <a:p>
            <a:pPr algn="l" indent="0" marL="0">
              <a:buNone/>
            </a:pPr>
            <a:r>
              <a:rPr lang="en-US" sz="1450" dirty="0">
                <a:solidFill>
                  <a:srgbClr val="4A5568"/>
                </a:solidFill>
              </a:rPr>
              <a:t>It handles OCR, model routing and prompting. You don't fine-tune or manage pipelines.</a:t>
            </a:r>
            <a:endParaRPr lang="en-US" sz="1450" dirty="0"/>
          </a:p>
        </p:txBody>
      </p:sp>
      <p:sp>
        <p:nvSpPr>
          <p:cNvPr id="10" name="Shape 8"/>
          <p:cNvSpPr/>
          <p:nvPr/>
        </p:nvSpPr>
        <p:spPr>
          <a:xfrm>
            <a:off x="640080" y="3977640"/>
            <a:ext cx="5166360" cy="1828800"/>
          </a:xfrm>
          <a:prstGeom prst="roundRect">
            <a:avLst>
              <a:gd name="adj" fmla="val 4000"/>
            </a:avLst>
          </a:prstGeom>
          <a:solidFill>
            <a:srgbClr val="F4F6F8"/>
          </a:solidFill>
          <a:ln w="12700">
            <a:solidFill>
              <a:srgbClr val="E3E6E4"/>
            </a:solidFill>
            <a:prstDash val="solid"/>
          </a:ln>
        </p:spPr>
      </p:sp>
      <p:sp>
        <p:nvSpPr>
          <p:cNvPr id="11" name="Text 9"/>
          <p:cNvSpPr txBox="1"/>
          <p:nvPr/>
        </p:nvSpPr>
        <p:spPr>
          <a:xfrm>
            <a:off x="914400" y="4178808"/>
            <a:ext cx="4617720" cy="457200"/>
          </a:xfrm>
          <a:prstGeom prst="rect">
            <a:avLst/>
          </a:prstGeom>
          <a:noFill/>
          <a:ln/>
        </p:spPr>
        <p:txBody>
          <a:bodyPr wrap="square" lIns="0" tIns="0" rIns="0" bIns="0" rtlCol="0" anchor="t"/>
          <a:lstStyle/>
          <a:p>
            <a:pPr algn="l" indent="0" marL="0">
              <a:buNone/>
            </a:pPr>
            <a:r>
              <a:rPr lang="en-US" sz="1800" b="1" dirty="0">
                <a:solidFill>
                  <a:srgbClr val="14213D"/>
                </a:solidFill>
              </a:rPr>
              <a:t>Confidence &amp; grounding built in</a:t>
            </a:r>
            <a:endParaRPr lang="en-US" sz="1800" dirty="0"/>
          </a:p>
        </p:txBody>
      </p:sp>
      <p:sp>
        <p:nvSpPr>
          <p:cNvPr id="12" name="Text 10"/>
          <p:cNvSpPr txBox="1"/>
          <p:nvPr/>
        </p:nvSpPr>
        <p:spPr>
          <a:xfrm>
            <a:off x="914400" y="4727448"/>
            <a:ext cx="4617720" cy="914400"/>
          </a:xfrm>
          <a:prstGeom prst="rect">
            <a:avLst/>
          </a:prstGeom>
          <a:noFill/>
          <a:ln/>
        </p:spPr>
        <p:txBody>
          <a:bodyPr wrap="square" lIns="0" tIns="0" rIns="0" bIns="0" rtlCol="0" anchor="t"/>
          <a:lstStyle/>
          <a:p>
            <a:pPr algn="l" indent="0" marL="0">
              <a:buNone/>
            </a:pPr>
            <a:r>
              <a:rPr lang="en-US" sz="1450" dirty="0">
                <a:solidFill>
                  <a:srgbClr val="4A5568"/>
                </a:solidFill>
              </a:rPr>
              <a:t>Every value carries a confidence score and page coordinates — route shaky ones to review.</a:t>
            </a:r>
            <a:endParaRPr lang="en-US" sz="1450" dirty="0"/>
          </a:p>
        </p:txBody>
      </p:sp>
      <p:sp>
        <p:nvSpPr>
          <p:cNvPr id="13" name="Shape 11"/>
          <p:cNvSpPr/>
          <p:nvPr/>
        </p:nvSpPr>
        <p:spPr>
          <a:xfrm>
            <a:off x="6355080" y="3977640"/>
            <a:ext cx="5166360" cy="1828800"/>
          </a:xfrm>
          <a:prstGeom prst="roundRect">
            <a:avLst>
              <a:gd name="adj" fmla="val 4000"/>
            </a:avLst>
          </a:prstGeom>
          <a:solidFill>
            <a:srgbClr val="F4F6F8"/>
          </a:solidFill>
          <a:ln w="12700">
            <a:solidFill>
              <a:srgbClr val="E3E6E4"/>
            </a:solidFill>
            <a:prstDash val="solid"/>
          </a:ln>
        </p:spPr>
      </p:sp>
      <p:sp>
        <p:nvSpPr>
          <p:cNvPr id="14" name="Text 12"/>
          <p:cNvSpPr txBox="1"/>
          <p:nvPr/>
        </p:nvSpPr>
        <p:spPr>
          <a:xfrm>
            <a:off x="6629400" y="4178808"/>
            <a:ext cx="4617720" cy="457200"/>
          </a:xfrm>
          <a:prstGeom prst="rect">
            <a:avLst/>
          </a:prstGeom>
          <a:noFill/>
          <a:ln/>
        </p:spPr>
        <p:txBody>
          <a:bodyPr wrap="square" lIns="0" tIns="0" rIns="0" bIns="0" rtlCol="0" anchor="t"/>
          <a:lstStyle/>
          <a:p>
            <a:pPr algn="l" indent="0" marL="0">
              <a:buNone/>
            </a:pPr>
            <a:r>
              <a:rPr lang="en-US" sz="1800" b="1" dirty="0">
                <a:solidFill>
                  <a:srgbClr val="14213D"/>
                </a:solidFill>
              </a:rPr>
              <a:t>Feeds the agent stack</a:t>
            </a:r>
            <a:endParaRPr lang="en-US" sz="1800" dirty="0"/>
          </a:p>
        </p:txBody>
      </p:sp>
      <p:sp>
        <p:nvSpPr>
          <p:cNvPr id="15" name="Text 13"/>
          <p:cNvSpPr txBox="1"/>
          <p:nvPr/>
        </p:nvSpPr>
        <p:spPr>
          <a:xfrm>
            <a:off x="6629400" y="4727448"/>
            <a:ext cx="4617720" cy="914400"/>
          </a:xfrm>
          <a:prstGeom prst="rect">
            <a:avLst/>
          </a:prstGeom>
          <a:noFill/>
          <a:ln/>
        </p:spPr>
        <p:txBody>
          <a:bodyPr wrap="square" lIns="0" tIns="0" rIns="0" bIns="0" rtlCol="0" anchor="t"/>
          <a:lstStyle/>
          <a:p>
            <a:pPr algn="l" indent="0" marL="0">
              <a:buNone/>
            </a:pPr>
            <a:r>
              <a:rPr lang="en-US" sz="1450" dirty="0">
                <a:solidFill>
                  <a:srgbClr val="4A5568"/>
                </a:solidFill>
              </a:rPr>
              <a:t>Output drops into S3, Knowledge Bases, or Bedrock Agents — exactly what AskGartner needs.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ph idx="100" type="body" hasCustomPrompt="1"/>
          </p:nvPr>
        </p:nvSpPr>
        <p:spPr>
          <a:xfrm>
            <a:off x="640080" y="457200"/>
            <a:ext cx="10881360" cy="320040"/>
          </a:xfrm>
          <a:prstGeom prst="rect">
            <a:avLst/>
          </a:prstGeom>
          <a:noFill/>
          <a:ln/>
        </p:spPr>
        <p:txBody>
          <a:bodyPr wrap="square" lIns="0" tIns="0" rIns="0" bIns="0" rtlCol="0" anchor="t"/>
          <a:lstStyle/>
          <a:p>
            <a:pPr algn="l" indent="0" marL="0">
              <a:buNone/>
            </a:pPr>
            <a:r>
              <a:rPr lang="en-US" sz="1300" b="1" spc="200" kern="0" dirty="0">
                <a:solidFill>
                  <a:srgbClr val="2563EB"/>
                </a:solidFill>
                <a:latin typeface="Consolas" pitchFamily="34" charset="0"/>
                <a:ea typeface="Consolas" pitchFamily="34" charset="-122"/>
                <a:cs typeface="Consolas" pitchFamily="34" charset="-120"/>
              </a:rPr>
              <a:t>TWO JOBS, AND THE UNIT OF WORK</a:t>
            </a:r>
            <a:endParaRPr lang="en-US" sz="1300" dirty="0"/>
          </a:p>
        </p:txBody>
      </p:sp>
      <p:sp>
        <p:nvSpPr>
          <p:cNvPr id="3" name="Text 0"/>
          <p:cNvSpPr txBox="1"/>
          <p:nvPr>
            <p:ph idx="101" type="title" hasCustomPrompt="1"/>
          </p:nvPr>
        </p:nvSpPr>
        <p:spPr>
          <a:xfrm>
            <a:off x="640080" y="777240"/>
            <a:ext cx="10881360" cy="868680"/>
          </a:xfrm>
          <a:prstGeom prst="rect">
            <a:avLst/>
          </a:prstGeom>
          <a:noFill/>
          <a:ln/>
        </p:spPr>
        <p:txBody>
          <a:bodyPr wrap="square" lIns="0" tIns="0" rIns="0" bIns="0" rtlCol="0" anchor="t"/>
          <a:lstStyle/>
          <a:p>
            <a:pPr algn="l" indent="0" marL="0">
              <a:buNone/>
            </a:pPr>
            <a:r>
              <a:rPr lang="en-US" sz="3200" b="1" dirty="0">
                <a:solidFill>
                  <a:srgbClr val="14213D"/>
                </a:solidFill>
                <a:latin typeface="Calibri" pitchFamily="34" charset="0"/>
                <a:ea typeface="Calibri" pitchFamily="34" charset="-122"/>
                <a:cs typeface="Calibri" pitchFamily="34" charset="-120"/>
              </a:rPr>
              <a:t>Standard vs. custom — and segments</a:t>
            </a:r>
            <a:endParaRPr lang="en-US" sz="3200" dirty="0"/>
          </a:p>
        </p:txBody>
      </p:sp>
      <p:sp>
        <p:nvSpPr>
          <p:cNvPr id="4" name="Shape 2"/>
          <p:cNvSpPr/>
          <p:nvPr/>
        </p:nvSpPr>
        <p:spPr>
          <a:xfrm>
            <a:off x="640080" y="1874520"/>
            <a:ext cx="5349240" cy="2286000"/>
          </a:xfrm>
          <a:prstGeom prst="roundRect">
            <a:avLst>
              <a:gd name="adj" fmla="val 3200"/>
            </a:avLst>
          </a:prstGeom>
          <a:solidFill>
            <a:srgbClr val="F4F6F8"/>
          </a:solidFill>
          <a:ln w="12700">
            <a:solidFill>
              <a:srgbClr val="E3E6E4"/>
            </a:solidFill>
            <a:prstDash val="solid"/>
          </a:ln>
        </p:spPr>
      </p:sp>
      <p:sp>
        <p:nvSpPr>
          <p:cNvPr id="5" name="Text 3"/>
          <p:cNvSpPr txBox="1"/>
          <p:nvPr/>
        </p:nvSpPr>
        <p:spPr>
          <a:xfrm>
            <a:off x="914400" y="2075688"/>
            <a:ext cx="4754880" cy="320040"/>
          </a:xfrm>
          <a:prstGeom prst="rect">
            <a:avLst/>
          </a:prstGeom>
          <a:noFill/>
          <a:ln/>
        </p:spPr>
        <p:txBody>
          <a:bodyPr wrap="square" lIns="0" tIns="0" rIns="0" bIns="0" rtlCol="0" anchor="t"/>
          <a:lstStyle/>
          <a:p>
            <a:pPr algn="l" indent="0" marL="0">
              <a:buNone/>
            </a:pPr>
            <a:r>
              <a:rPr lang="en-US" sz="1400" b="1" dirty="0">
                <a:solidFill>
                  <a:srgbClr val="2563EB"/>
                </a:solidFill>
                <a:latin typeface="Consolas" pitchFamily="34" charset="0"/>
                <a:ea typeface="Consolas" pitchFamily="34" charset="-122"/>
                <a:cs typeface="Consolas" pitchFamily="34" charset="-120"/>
              </a:rPr>
              <a:t>STANDARD</a:t>
            </a:r>
            <a:endParaRPr lang="en-US" sz="1400" dirty="0"/>
          </a:p>
        </p:txBody>
      </p:sp>
      <p:sp>
        <p:nvSpPr>
          <p:cNvPr id="6" name="Text 4"/>
          <p:cNvSpPr txBox="1"/>
          <p:nvPr/>
        </p:nvSpPr>
        <p:spPr>
          <a:xfrm>
            <a:off x="914400" y="2395728"/>
            <a:ext cx="4754880" cy="457200"/>
          </a:xfrm>
          <a:prstGeom prst="rect">
            <a:avLst/>
          </a:prstGeom>
          <a:noFill/>
          <a:ln/>
        </p:spPr>
        <p:txBody>
          <a:bodyPr wrap="square" lIns="0" tIns="0" rIns="0" bIns="0" rtlCol="0" anchor="t"/>
          <a:lstStyle/>
          <a:p>
            <a:pPr algn="l" indent="0" marL="0">
              <a:buNone/>
            </a:pPr>
            <a:r>
              <a:rPr lang="en-US" sz="2000" b="1" dirty="0">
                <a:solidFill>
                  <a:srgbClr val="14213D"/>
                </a:solidFill>
              </a:rPr>
              <a:t>“Tell me everything”</a:t>
            </a:r>
            <a:endParaRPr lang="en-US" sz="2000" dirty="0"/>
          </a:p>
        </p:txBody>
      </p:sp>
      <p:sp>
        <p:nvSpPr>
          <p:cNvPr id="7" name="Text 5"/>
          <p:cNvSpPr txBox="1"/>
          <p:nvPr/>
        </p:nvSpPr>
        <p:spPr>
          <a:xfrm>
            <a:off x="914400" y="2926080"/>
            <a:ext cx="4846320" cy="1097280"/>
          </a:xfrm>
          <a:prstGeom prst="rect">
            <a:avLst/>
          </a:prstGeom>
          <a:noFill/>
          <a:ln/>
        </p:spPr>
        <p:txBody>
          <a:bodyPr wrap="square" lIns="0" tIns="0" rIns="0" bIns="0" rtlCol="0" anchor="t"/>
          <a:lstStyle/>
          <a:p>
            <a:pPr algn="l" indent="0" marL="0">
              <a:buNone/>
            </a:pPr>
            <a:r>
              <a:rPr lang="en-US" sz="1450" dirty="0">
                <a:solidFill>
                  <a:srgbClr val="4A5568"/>
                </a:solidFill>
              </a:rPr>
              <a:t>Reads the file, returns text, tables, figures, a summary. Same shape for any document. No blueprint.</a:t>
            </a:r>
            <a:endParaRPr lang="en-US" sz="1450" dirty="0"/>
          </a:p>
        </p:txBody>
      </p:sp>
      <p:sp>
        <p:nvSpPr>
          <p:cNvPr id="8" name="Shape 6"/>
          <p:cNvSpPr/>
          <p:nvPr/>
        </p:nvSpPr>
        <p:spPr>
          <a:xfrm>
            <a:off x="6172200" y="1874520"/>
            <a:ext cx="5349240" cy="2286000"/>
          </a:xfrm>
          <a:prstGeom prst="roundRect">
            <a:avLst>
              <a:gd name="adj" fmla="val 3200"/>
            </a:avLst>
          </a:prstGeom>
          <a:solidFill>
            <a:srgbClr val="14213D"/>
          </a:solidFill>
          <a:ln/>
        </p:spPr>
      </p:sp>
      <p:sp>
        <p:nvSpPr>
          <p:cNvPr id="9" name="Text 7"/>
          <p:cNvSpPr txBox="1"/>
          <p:nvPr/>
        </p:nvSpPr>
        <p:spPr>
          <a:xfrm>
            <a:off x="6446520" y="2075688"/>
            <a:ext cx="4754880" cy="320040"/>
          </a:xfrm>
          <a:prstGeom prst="rect">
            <a:avLst/>
          </a:prstGeom>
          <a:noFill/>
          <a:ln/>
        </p:spPr>
        <p:txBody>
          <a:bodyPr wrap="square" lIns="0" tIns="0" rIns="0" bIns="0" rtlCol="0" anchor="t"/>
          <a:lstStyle/>
          <a:p>
            <a:pPr algn="l" indent="0" marL="0">
              <a:buNone/>
            </a:pPr>
            <a:r>
              <a:rPr lang="en-US" sz="1400" b="1" dirty="0">
                <a:solidFill>
                  <a:srgbClr val="60A5FA"/>
                </a:solidFill>
                <a:latin typeface="Consolas" pitchFamily="34" charset="0"/>
                <a:ea typeface="Consolas" pitchFamily="34" charset="-122"/>
                <a:cs typeface="Consolas" pitchFamily="34" charset="-120"/>
              </a:rPr>
              <a:t>CUSTOM</a:t>
            </a:r>
            <a:endParaRPr lang="en-US" sz="1400" dirty="0"/>
          </a:p>
        </p:txBody>
      </p:sp>
      <p:sp>
        <p:nvSpPr>
          <p:cNvPr id="10" name="Text 8"/>
          <p:cNvSpPr txBox="1"/>
          <p:nvPr/>
        </p:nvSpPr>
        <p:spPr>
          <a:xfrm>
            <a:off x="6446520" y="2395728"/>
            <a:ext cx="4754880" cy="457200"/>
          </a:xfrm>
          <a:prstGeom prst="rect">
            <a:avLst/>
          </a:prstGeom>
          <a:noFill/>
          <a:ln/>
        </p:spPr>
        <p:txBody>
          <a:bodyPr wrap="square" lIns="0" tIns="0" rIns="0" bIns="0" rtlCol="0" anchor="t"/>
          <a:lstStyle/>
          <a:p>
            <a:pPr algn="l" indent="0" marL="0">
              <a:buNone/>
            </a:pPr>
            <a:r>
              <a:rPr lang="en-US" sz="2000" b="1" dirty="0">
                <a:solidFill>
                  <a:srgbClr val="FFFFFF"/>
                </a:solidFill>
              </a:rPr>
              <a:t>“Pull these fields”</a:t>
            </a:r>
            <a:endParaRPr lang="en-US" sz="2000" dirty="0"/>
          </a:p>
        </p:txBody>
      </p:sp>
      <p:sp>
        <p:nvSpPr>
          <p:cNvPr id="11" name="Text 9"/>
          <p:cNvSpPr txBox="1"/>
          <p:nvPr/>
        </p:nvSpPr>
        <p:spPr>
          <a:xfrm>
            <a:off x="6446520" y="2926080"/>
            <a:ext cx="4846320" cy="1097280"/>
          </a:xfrm>
          <a:prstGeom prst="rect">
            <a:avLst/>
          </a:prstGeom>
          <a:noFill/>
          <a:ln/>
        </p:spPr>
        <p:txBody>
          <a:bodyPr wrap="square" lIns="0" tIns="0" rIns="0" bIns="0" rtlCol="0" anchor="t"/>
          <a:lstStyle/>
          <a:p>
            <a:pPr algn="l" indent="0" marL="0">
              <a:buNone/>
            </a:pPr>
            <a:r>
              <a:rPr lang="en-US" sz="1450" dirty="0">
                <a:solidFill>
                  <a:srgbClr val="BFD8D5"/>
                </a:solidFill>
              </a:rPr>
              <a:t>You hand it a JSON blueprint of the fields you want; output is shaped like your schema. Both run in one job.</a:t>
            </a:r>
            <a:endParaRPr lang="en-US" sz="1450" dirty="0"/>
          </a:p>
        </p:txBody>
      </p:sp>
      <p:sp>
        <p:nvSpPr>
          <p:cNvPr id="12" name="Shape 10"/>
          <p:cNvSpPr/>
          <p:nvPr/>
        </p:nvSpPr>
        <p:spPr>
          <a:xfrm>
            <a:off x="640080" y="4343400"/>
            <a:ext cx="10881360" cy="1737360"/>
          </a:xfrm>
          <a:prstGeom prst="roundRect">
            <a:avLst>
              <a:gd name="adj" fmla="val 4211"/>
            </a:avLst>
          </a:prstGeom>
          <a:solidFill>
            <a:srgbClr val="DBEAFE"/>
          </a:solidFill>
          <a:ln/>
        </p:spPr>
      </p:sp>
      <p:sp>
        <p:nvSpPr>
          <p:cNvPr id="13" name="Text 11"/>
          <p:cNvSpPr txBox="1"/>
          <p:nvPr/>
        </p:nvSpPr>
        <p:spPr>
          <a:xfrm>
            <a:off x="914400" y="4526280"/>
            <a:ext cx="10332720" cy="365760"/>
          </a:xfrm>
          <a:prstGeom prst="rect">
            <a:avLst/>
          </a:prstGeom>
          <a:noFill/>
          <a:ln/>
        </p:spPr>
        <p:txBody>
          <a:bodyPr wrap="square" lIns="0" tIns="0" rIns="0" bIns="0" rtlCol="0" anchor="t"/>
          <a:lstStyle/>
          <a:p>
            <a:pPr algn="l" indent="0" marL="0">
              <a:buNone/>
            </a:pPr>
            <a:r>
              <a:rPr lang="en-US" sz="1700" b="1" dirty="0">
                <a:solidFill>
                  <a:srgbClr val="14213D"/>
                </a:solidFill>
              </a:rPr>
              <a:t>Segments: the unit of work</a:t>
            </a:r>
            <a:endParaRPr lang="en-US" sz="1700" dirty="0"/>
          </a:p>
        </p:txBody>
      </p:sp>
      <p:sp>
        <p:nvSpPr>
          <p:cNvPr id="14" name="Text 12"/>
          <p:cNvSpPr txBox="1"/>
          <p:nvPr/>
        </p:nvSpPr>
        <p:spPr>
          <a:xfrm>
            <a:off x="914400" y="4937760"/>
            <a:ext cx="10332720" cy="1051560"/>
          </a:xfrm>
          <a:prstGeom prst="rect">
            <a:avLst/>
          </a:prstGeom>
          <a:noFill/>
          <a:ln/>
        </p:spPr>
        <p:txBody>
          <a:bodyPr wrap="square" lIns="0" tIns="0" rIns="0" bIns="0" rtlCol="0" anchor="t"/>
          <a:lstStyle/>
          <a:p>
            <a:pPr algn="l" indent="0" marL="0">
              <a:buNone/>
            </a:pPr>
            <a:r>
              <a:rPr lang="en-US" sz="1450" dirty="0">
                <a:solidFill>
                  <a:srgbClr val="14213D"/>
                </a:solidFill>
              </a:rPr>
              <a:t>A big file is split into logical sub-documents — </a:t>
            </a:r>
            <a:pPr algn="l" indent="0" marL="0">
              <a:buNone/>
            </a:pPr>
            <a:r>
              <a:rPr lang="en-US" sz="1450" b="1" dirty="0">
                <a:solidFill>
                  <a:srgbClr val="1E3A8A"/>
                </a:solidFill>
              </a:rPr>
              <a:t>20 pages</a:t>
            </a:r>
            <a:pPr algn="l" indent="0" marL="0">
              <a:buNone/>
            </a:pPr>
            <a:r>
              <a:rPr lang="en-US" sz="1450" dirty="0">
                <a:solidFill>
                  <a:srgbClr val="14213D"/>
                </a:solidFill>
              </a:rPr>
              <a:t> each, up to </a:t>
            </a:r>
            <a:pPr algn="l" indent="0" marL="0">
              <a:buNone/>
            </a:pPr>
            <a:r>
              <a:rPr lang="en-US" sz="1450" b="1" dirty="0">
                <a:solidFill>
                  <a:srgbClr val="1E3A8A"/>
                </a:solidFill>
              </a:rPr>
              <a:t>3,000</a:t>
            </a:r>
            <a:pPr algn="l" indent="0" marL="0">
              <a:buNone/>
            </a:pPr>
            <a:r>
              <a:rPr lang="en-US" sz="1450" dirty="0">
                <a:solidFill>
                  <a:srgbClr val="14213D"/>
                </a:solidFill>
              </a:rPr>
              <a:t> across the file. BDA infers the boundaries from content; your only knob is splitter on/off. </a:t>
            </a:r>
            <a:pPr algn="l" indent="0" marL="0">
              <a:buNone/>
            </a:pPr>
            <a:r>
              <a:rPr lang="en-US" sz="1450" b="1" dirty="0">
                <a:solidFill>
                  <a:srgbClr val="1E3A8A"/>
                </a:solidFill>
              </a:rPr>
              <a:t>Gotcha: </a:t>
            </a:r>
            <a:pPr algn="l" indent="0" marL="0">
              <a:buNone/>
            </a:pPr>
            <a:r>
              <a:rPr lang="en-US" sz="1450" dirty="0">
                <a:solidFill>
                  <a:srgbClr val="4A5568"/>
                </a:solidFill>
              </a:rPr>
              <a:t>cite the real page from </a:t>
            </a:r>
            <a:pPr algn="l" indent="0" marL="0">
              <a:buNone/>
            </a:pPr>
            <a:r>
              <a:rPr lang="en-US" sz="1450" dirty="0">
                <a:solidFill>
                  <a:srgbClr val="1E3A8A"/>
                </a:solidFill>
                <a:latin typeface="Consolas" pitchFamily="34" charset="0"/>
                <a:ea typeface="Consolas" pitchFamily="34" charset="-122"/>
                <a:cs typeface="Consolas" pitchFamily="34" charset="-120"/>
              </a:rPr>
              <a:t>metadata.start_page_index</a:t>
            </a:r>
            <a:pPr algn="l" indent="0" marL="0">
              <a:buNone/>
            </a:pPr>
            <a:r>
              <a:rPr lang="en-US" sz="1450" dirty="0">
                <a:solidFill>
                  <a:srgbClr val="4A5568"/>
                </a:solidFill>
              </a:rPr>
              <a:t> — the per-segment index restarts at zero.</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ph idx="100" type="body" hasCustomPrompt="1"/>
          </p:nvPr>
        </p:nvSpPr>
        <p:spPr>
          <a:xfrm>
            <a:off x="640080" y="457200"/>
            <a:ext cx="10881360" cy="320040"/>
          </a:xfrm>
          <a:prstGeom prst="rect">
            <a:avLst/>
          </a:prstGeom>
          <a:noFill/>
          <a:ln/>
        </p:spPr>
        <p:txBody>
          <a:bodyPr wrap="square" lIns="0" tIns="0" rIns="0" bIns="0" rtlCol="0" anchor="t"/>
          <a:lstStyle/>
          <a:p>
            <a:pPr algn="l" indent="0" marL="0">
              <a:buNone/>
            </a:pPr>
            <a:r>
              <a:rPr lang="en-US" sz="1300" b="1" spc="200" kern="0" dirty="0">
                <a:solidFill>
                  <a:srgbClr val="2563EB"/>
                </a:solidFill>
                <a:latin typeface="Consolas" pitchFamily="34" charset="0"/>
                <a:ea typeface="Consolas" pitchFamily="34" charset="-122"/>
                <a:cs typeface="Consolas" pitchFamily="34" charset="-120"/>
              </a:rPr>
              <a:t>WHAT COMES BACK</a:t>
            </a:r>
            <a:endParaRPr lang="en-US" sz="1300" dirty="0"/>
          </a:p>
        </p:txBody>
      </p:sp>
      <p:sp>
        <p:nvSpPr>
          <p:cNvPr id="3" name="Text 0"/>
          <p:cNvSpPr txBox="1"/>
          <p:nvPr>
            <p:ph idx="101" type="title" hasCustomPrompt="1"/>
          </p:nvPr>
        </p:nvSpPr>
        <p:spPr>
          <a:xfrm>
            <a:off x="640080" y="777240"/>
            <a:ext cx="10881360" cy="868680"/>
          </a:xfrm>
          <a:prstGeom prst="rect">
            <a:avLst/>
          </a:prstGeom>
          <a:noFill/>
          <a:ln/>
        </p:spPr>
        <p:txBody>
          <a:bodyPr wrap="square" lIns="0" tIns="0" rIns="0" bIns="0" rtlCol="0" anchor="t"/>
          <a:lstStyle/>
          <a:p>
            <a:pPr algn="l" indent="0" marL="0">
              <a:buNone/>
            </a:pPr>
            <a:r>
              <a:rPr lang="en-US" sz="3200" b="1" dirty="0">
                <a:solidFill>
                  <a:srgbClr val="14213D"/>
                </a:solidFill>
                <a:latin typeface="Calibri" pitchFamily="34" charset="0"/>
                <a:ea typeface="Calibri" pitchFamily="34" charset="-122"/>
                <a:cs typeface="Calibri" pitchFamily="34" charset="-120"/>
              </a:rPr>
              <a:t>Clean markdown — and a confidence score on every value</a:t>
            </a:r>
            <a:endParaRPr lang="en-US" sz="3200" dirty="0"/>
          </a:p>
        </p:txBody>
      </p:sp>
      <p:sp>
        <p:nvSpPr>
          <p:cNvPr id="4" name="Shape 2"/>
          <p:cNvSpPr/>
          <p:nvPr/>
        </p:nvSpPr>
        <p:spPr>
          <a:xfrm>
            <a:off x="640080" y="1874520"/>
            <a:ext cx="5486400" cy="3931920"/>
          </a:xfrm>
          <a:prstGeom prst="roundRect">
            <a:avLst>
              <a:gd name="adj" fmla="val 1860"/>
            </a:avLst>
          </a:prstGeom>
          <a:solidFill>
            <a:srgbClr val="14213D"/>
          </a:solidFill>
          <a:ln/>
        </p:spPr>
      </p:sp>
      <p:sp>
        <p:nvSpPr>
          <p:cNvPr id="5" name="Text 3"/>
          <p:cNvSpPr txBox="1"/>
          <p:nvPr/>
        </p:nvSpPr>
        <p:spPr>
          <a:xfrm>
            <a:off x="914400" y="2084832"/>
            <a:ext cx="4937760" cy="320040"/>
          </a:xfrm>
          <a:prstGeom prst="rect">
            <a:avLst/>
          </a:prstGeom>
          <a:noFill/>
          <a:ln/>
        </p:spPr>
        <p:txBody>
          <a:bodyPr wrap="square" lIns="0" tIns="0" rIns="0" bIns="0" rtlCol="0" anchor="t"/>
          <a:lstStyle/>
          <a:p>
            <a:pPr algn="l" indent="0" marL="0">
              <a:buNone/>
            </a:pPr>
            <a:r>
              <a:rPr lang="en-US" sz="1400" b="1" dirty="0">
                <a:solidFill>
                  <a:srgbClr val="60A5FA"/>
                </a:solidFill>
              </a:rPr>
              <a:t>Standard output, per segment</a:t>
            </a:r>
            <a:endParaRPr lang="en-US" sz="1400" dirty="0"/>
          </a:p>
        </p:txBody>
      </p:sp>
      <p:sp>
        <p:nvSpPr>
          <p:cNvPr id="6" name="Text 4"/>
          <p:cNvSpPr txBox="1"/>
          <p:nvPr/>
        </p:nvSpPr>
        <p:spPr>
          <a:xfrm>
            <a:off x="914400" y="2487168"/>
            <a:ext cx="4937760" cy="3108960"/>
          </a:xfrm>
          <a:prstGeom prst="rect">
            <a:avLst/>
          </a:prstGeom>
          <a:noFill/>
          <a:ln/>
        </p:spPr>
        <p:txBody>
          <a:bodyPr wrap="square" lIns="0" tIns="0" rIns="0" bIns="0" rtlCol="0" anchor="t"/>
          <a:lstStyle/>
          <a:p>
            <a:pPr algn="l" indent="0" marL="0">
              <a:lnSpc>
                <a:spcPct val="120000"/>
              </a:lnSpc>
              <a:buNone/>
            </a:pPr>
            <a:r>
              <a:rPr lang="en-US" sz="1350" dirty="0">
                <a:solidFill>
                  <a:srgbClr val="BFD8D5"/>
                </a:solidFill>
                <a:latin typeface="Consolas" pitchFamily="34" charset="0"/>
                <a:ea typeface="Consolas" pitchFamily="34" charset="-122"/>
                <a:cs typeface="Consolas" pitchFamily="34" charset="-120"/>
              </a:rPr>
              <a:t>{
</a:t>
            </a:r>
            <a:pPr algn="l" indent="0" marL="0">
              <a:lnSpc>
                <a:spcPct val="120000"/>
              </a:lnSpc>
              <a:buNone/>
            </a:pPr>
            <a:r>
              <a:rPr lang="en-US" sz="1350" dirty="0">
                <a:solidFill>
                  <a:srgbClr val="60A5FA"/>
                </a:solidFill>
                <a:latin typeface="Consolas" pitchFamily="34" charset="0"/>
                <a:ea typeface="Consolas" pitchFamily="34" charset="-122"/>
                <a:cs typeface="Consolas" pitchFamily="34" charset="-120"/>
              </a:rPr>
              <a:t>  "document"</a:t>
            </a:r>
            <a:pPr algn="l" indent="0" marL="0">
              <a:lnSpc>
                <a:spcPct val="120000"/>
              </a:lnSpc>
              <a:buNone/>
            </a:pPr>
            <a:r>
              <a:rPr lang="en-US" sz="1350" dirty="0">
                <a:solidFill>
                  <a:srgbClr val="BFD8D5"/>
                </a:solidFill>
                <a:latin typeface="Consolas" pitchFamily="34" charset="0"/>
                <a:ea typeface="Consolas" pitchFamily="34" charset="-122"/>
                <a:cs typeface="Consolas" pitchFamily="34" charset="-120"/>
              </a:rPr>
              <a:t>: { representation: {
      markdown, text, html }, summary },
</a:t>
            </a:r>
            <a:pPr algn="l" indent="0" marL="0">
              <a:lnSpc>
                <a:spcPct val="120000"/>
              </a:lnSpc>
              <a:buNone/>
            </a:pPr>
            <a:r>
              <a:rPr lang="en-US" sz="1350" dirty="0">
                <a:solidFill>
                  <a:srgbClr val="60A5FA"/>
                </a:solidFill>
                <a:latin typeface="Consolas" pitchFamily="34" charset="0"/>
                <a:ea typeface="Consolas" pitchFamily="34" charset="-122"/>
                <a:cs typeface="Consolas" pitchFamily="34" charset="-120"/>
              </a:rPr>
              <a:t>  "pages"</a:t>
            </a:r>
            <a:pPr algn="l" indent="0" marL="0">
              <a:lnSpc>
                <a:spcPct val="120000"/>
              </a:lnSpc>
              <a:buNone/>
            </a:pPr>
            <a:r>
              <a:rPr lang="en-US" sz="1350" dirty="0">
                <a:solidFill>
                  <a:srgbClr val="BFD8D5"/>
                </a:solidFill>
                <a:latin typeface="Consolas" pitchFamily="34" charset="0"/>
                <a:ea typeface="Consolas" pitchFamily="34" charset="-122"/>
                <a:cs typeface="Consolas" pitchFamily="34" charset="-120"/>
              </a:rPr>
              <a:t>: [ { page_index, … } ],
</a:t>
            </a:r>
            <a:pPr algn="l" indent="0" marL="0">
              <a:lnSpc>
                <a:spcPct val="120000"/>
              </a:lnSpc>
              <a:buNone/>
            </a:pPr>
            <a:r>
              <a:rPr lang="en-US" sz="1350" dirty="0">
                <a:solidFill>
                  <a:srgbClr val="60A5FA"/>
                </a:solidFill>
                <a:latin typeface="Consolas" pitchFamily="34" charset="0"/>
                <a:ea typeface="Consolas" pitchFamily="34" charset="-122"/>
                <a:cs typeface="Consolas" pitchFamily="34" charset="-120"/>
              </a:rPr>
              <a:t>  "elements"</a:t>
            </a:r>
            <a:pPr algn="l" indent="0" marL="0">
              <a:lnSpc>
                <a:spcPct val="120000"/>
              </a:lnSpc>
              <a:buNone/>
            </a:pPr>
            <a:r>
              <a:rPr lang="en-US" sz="1350" dirty="0">
                <a:solidFill>
                  <a:srgbClr val="BFD8D5"/>
                </a:solidFill>
                <a:latin typeface="Consolas" pitchFamily="34" charset="0"/>
                <a:ea typeface="Consolas" pitchFamily="34" charset="-122"/>
                <a:cs typeface="Consolas" pitchFamily="34" charset="-120"/>
              </a:rPr>
              <a:t>: [ { type:</a:t>
            </a:r>
            <a:endParaRPr lang="en-US" sz="1350" dirty="0"/>
          </a:p>
          <a:p>
            <a:pPr algn="l" indent="0" marL="0">
              <a:lnSpc>
                <a:spcPct val="120000"/>
              </a:lnSpc>
              <a:buNone/>
            </a:pPr>
            <a:r>
              <a:rPr lang="en-US" sz="1350" dirty="0">
                <a:solidFill>
                  <a:srgbClr val="BFD8D5"/>
                </a:solidFill>
                <a:latin typeface="Consolas" pitchFamily="34" charset="0"/>
                <a:ea typeface="Consolas" pitchFamily="34" charset="-122"/>
                <a:cs typeface="Consolas" pitchFamily="34" charset="-120"/>
              </a:rPr>
              <a:t>      TEXT | TABLE | FIGURE,</a:t>
            </a:r>
            <a:endParaRPr lang="en-US" sz="1350" dirty="0"/>
          </a:p>
          <a:p>
            <a:pPr algn="l" indent="0" marL="0">
              <a:lnSpc>
                <a:spcPct val="120000"/>
              </a:lnSpc>
              <a:buNone/>
            </a:pPr>
            <a:r>
              <a:rPr lang="en-US" sz="1350" dirty="0">
                <a:solidFill>
                  <a:srgbClr val="BFD8D5"/>
                </a:solidFill>
                <a:latin typeface="Consolas" pitchFamily="34" charset="0"/>
                <a:ea typeface="Consolas" pitchFamily="34" charset="-122"/>
                <a:cs typeface="Consolas" pitchFamily="34" charset="-120"/>
              </a:rPr>
              <a:t>      reading_order, locations } ]</a:t>
            </a:r>
            <a:endParaRPr lang="en-US" sz="1350" dirty="0"/>
          </a:p>
          <a:p>
            <a:pPr algn="l" indent="0" marL="0">
              <a:lnSpc>
                <a:spcPct val="120000"/>
              </a:lnSpc>
              <a:buNone/>
            </a:pPr>
            <a:r>
              <a:rPr lang="en-US" sz="1350" dirty="0">
                <a:solidFill>
                  <a:srgbClr val="BFD8D5"/>
                </a:solidFill>
                <a:latin typeface="Consolas" pitchFamily="34" charset="0"/>
                <a:ea typeface="Consolas" pitchFamily="34" charset="-122"/>
                <a:cs typeface="Consolas" pitchFamily="34" charset="-120"/>
              </a:rPr>
              <a:t>}</a:t>
            </a:r>
            <a:endParaRPr lang="en-US" sz="1350" dirty="0"/>
          </a:p>
        </p:txBody>
      </p:sp>
      <p:sp>
        <p:nvSpPr>
          <p:cNvPr id="7" name="Shape 5"/>
          <p:cNvSpPr/>
          <p:nvPr/>
        </p:nvSpPr>
        <p:spPr>
          <a:xfrm>
            <a:off x="6355080" y="1874520"/>
            <a:ext cx="5166360" cy="1874520"/>
          </a:xfrm>
          <a:prstGeom prst="roundRect">
            <a:avLst>
              <a:gd name="adj" fmla="val 3902"/>
            </a:avLst>
          </a:prstGeom>
          <a:solidFill>
            <a:srgbClr val="F4F6F8"/>
          </a:solidFill>
          <a:ln w="12700">
            <a:solidFill>
              <a:srgbClr val="E3E6E4"/>
            </a:solidFill>
            <a:prstDash val="solid"/>
          </a:ln>
        </p:spPr>
      </p:sp>
      <p:sp>
        <p:nvSpPr>
          <p:cNvPr id="8" name="Text 6"/>
          <p:cNvSpPr txBox="1"/>
          <p:nvPr/>
        </p:nvSpPr>
        <p:spPr>
          <a:xfrm>
            <a:off x="6629400" y="2075688"/>
            <a:ext cx="4663440" cy="365760"/>
          </a:xfrm>
          <a:prstGeom prst="rect">
            <a:avLst/>
          </a:prstGeom>
          <a:noFill/>
          <a:ln/>
        </p:spPr>
        <p:txBody>
          <a:bodyPr wrap="square" lIns="0" tIns="0" rIns="0" bIns="0" rtlCol="0" anchor="t"/>
          <a:lstStyle/>
          <a:p>
            <a:pPr algn="l" indent="0" marL="0">
              <a:buNone/>
            </a:pPr>
            <a:r>
              <a:rPr lang="en-US" sz="1600" b="1" dirty="0">
                <a:solidFill>
                  <a:srgbClr val="14213D"/>
                </a:solidFill>
              </a:rPr>
              <a:t>The markdown is what the agent reads</a:t>
            </a:r>
            <a:endParaRPr lang="en-US" sz="1600" dirty="0"/>
          </a:p>
        </p:txBody>
      </p:sp>
      <p:sp>
        <p:nvSpPr>
          <p:cNvPr id="9" name="Text 7"/>
          <p:cNvSpPr txBox="1"/>
          <p:nvPr/>
        </p:nvSpPr>
        <p:spPr>
          <a:xfrm>
            <a:off x="6629400" y="2514600"/>
            <a:ext cx="4663440" cy="1097280"/>
          </a:xfrm>
          <a:prstGeom prst="rect">
            <a:avLst/>
          </a:prstGeom>
          <a:noFill/>
          <a:ln/>
        </p:spPr>
        <p:txBody>
          <a:bodyPr wrap="square" lIns="0" tIns="0" rIns="0" bIns="0" rtlCol="0" anchor="t"/>
          <a:lstStyle/>
          <a:p>
            <a:pPr algn="l" indent="0" marL="0">
              <a:buNone/>
            </a:pPr>
            <a:r>
              <a:rPr lang="en-US" sz="1450" dirty="0">
                <a:solidFill>
                  <a:srgbClr val="4A5568"/>
                </a:solidFill>
              </a:rPr>
              <a:t>Reading-order text, tables as CSV/HTML, figure captions — one LLM-ready representation per sub-document.</a:t>
            </a:r>
            <a:endParaRPr lang="en-US" sz="1450" dirty="0"/>
          </a:p>
        </p:txBody>
      </p:sp>
      <p:sp>
        <p:nvSpPr>
          <p:cNvPr id="10" name="Shape 8"/>
          <p:cNvSpPr/>
          <p:nvPr/>
        </p:nvSpPr>
        <p:spPr>
          <a:xfrm>
            <a:off x="6355080" y="3931920"/>
            <a:ext cx="5166360" cy="1874520"/>
          </a:xfrm>
          <a:prstGeom prst="roundRect">
            <a:avLst>
              <a:gd name="adj" fmla="val 3902"/>
            </a:avLst>
          </a:prstGeom>
          <a:solidFill>
            <a:srgbClr val="DBEAFE"/>
          </a:solidFill>
          <a:ln/>
        </p:spPr>
      </p:sp>
      <p:sp>
        <p:nvSpPr>
          <p:cNvPr id="11" name="Text 9"/>
          <p:cNvSpPr txBox="1"/>
          <p:nvPr/>
        </p:nvSpPr>
        <p:spPr>
          <a:xfrm>
            <a:off x="6629400" y="4133088"/>
            <a:ext cx="4663440" cy="365760"/>
          </a:xfrm>
          <a:prstGeom prst="rect">
            <a:avLst/>
          </a:prstGeom>
          <a:noFill/>
          <a:ln/>
        </p:spPr>
        <p:txBody>
          <a:bodyPr wrap="square" lIns="0" tIns="0" rIns="0" bIns="0" rtlCol="0" anchor="t"/>
          <a:lstStyle/>
          <a:p>
            <a:pPr algn="l" indent="0" marL="0">
              <a:buNone/>
            </a:pPr>
            <a:r>
              <a:rPr lang="en-US" sz="1600" b="1" dirty="0">
                <a:solidFill>
                  <a:srgbClr val="14213D"/>
                </a:solidFill>
              </a:rPr>
              <a:t>Confidence is the product</a:t>
            </a:r>
            <a:endParaRPr lang="en-US" sz="1600" dirty="0"/>
          </a:p>
        </p:txBody>
      </p:sp>
      <p:sp>
        <p:nvSpPr>
          <p:cNvPr id="12" name="Text 10"/>
          <p:cNvSpPr txBox="1"/>
          <p:nvPr/>
        </p:nvSpPr>
        <p:spPr>
          <a:xfrm>
            <a:off x="6629400" y="4572000"/>
            <a:ext cx="4663440" cy="1097280"/>
          </a:xfrm>
          <a:prstGeom prst="rect">
            <a:avLst/>
          </a:prstGeom>
          <a:noFill/>
          <a:ln/>
        </p:spPr>
        <p:txBody>
          <a:bodyPr wrap="square" lIns="0" tIns="0" rIns="0" bIns="0" rtlCol="0" anchor="t"/>
          <a:lstStyle/>
          <a:p>
            <a:pPr algn="l" indent="0" marL="0">
              <a:buNone/>
            </a:pPr>
            <a:r>
              <a:rPr lang="en-US" sz="1400" dirty="0">
                <a:solidFill>
                  <a:srgbClr val="14213D"/>
                </a:solidFill>
              </a:rPr>
              <a:t>Custom output adds </a:t>
            </a:r>
            <a:pPr algn="l" indent="0" marL="0">
              <a:buNone/>
            </a:pPr>
            <a:r>
              <a:rPr lang="en-US" sz="1400" dirty="0">
                <a:solidFill>
                  <a:srgbClr val="1E3A8A"/>
                </a:solidFill>
                <a:latin typeface="Consolas" pitchFamily="34" charset="0"/>
                <a:ea typeface="Consolas" pitchFamily="34" charset="-122"/>
                <a:cs typeface="Consolas" pitchFamily="34" charset="-120"/>
              </a:rPr>
              <a:t>explainability_info</a:t>
            </a:r>
            <a:pPr algn="l" indent="0" marL="0">
              <a:buNone/>
            </a:pPr>
            <a:r>
              <a:rPr lang="en-US" sz="1400" dirty="0">
                <a:solidFill>
                  <a:srgbClr val="14213D"/>
                </a:solidFill>
              </a:rPr>
              <a:t> — per-field confidence you threshold on to route low-confidence fields to human review and auto-approve the rest.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ph idx="100" type="body" hasCustomPrompt="1"/>
          </p:nvPr>
        </p:nvSpPr>
        <p:spPr>
          <a:xfrm>
            <a:off x="640080" y="457200"/>
            <a:ext cx="10881360" cy="320040"/>
          </a:xfrm>
          <a:prstGeom prst="rect">
            <a:avLst/>
          </a:prstGeom>
          <a:noFill/>
          <a:ln/>
        </p:spPr>
        <p:txBody>
          <a:bodyPr wrap="square" lIns="0" tIns="0" rIns="0" bIns="0" rtlCol="0" anchor="t"/>
          <a:lstStyle/>
          <a:p>
            <a:pPr algn="l" indent="0" marL="0">
              <a:buNone/>
            </a:pPr>
            <a:r>
              <a:rPr lang="en-US" sz="1300" b="1" spc="200" kern="0" dirty="0">
                <a:solidFill>
                  <a:srgbClr val="2563EB"/>
                </a:solidFill>
                <a:latin typeface="Consolas" pitchFamily="34" charset="0"/>
                <a:ea typeface="Consolas" pitchFamily="34" charset="-122"/>
                <a:cs typeface="Consolas" pitchFamily="34" charset="-120"/>
              </a:rPr>
              <a:t>RUNTIME &amp; GOVERNANCE</a:t>
            </a:r>
            <a:endParaRPr lang="en-US" sz="1300" dirty="0"/>
          </a:p>
        </p:txBody>
      </p:sp>
      <p:sp>
        <p:nvSpPr>
          <p:cNvPr id="3" name="Text 0"/>
          <p:cNvSpPr txBox="1"/>
          <p:nvPr>
            <p:ph idx="101" type="title" hasCustomPrompt="1"/>
          </p:nvPr>
        </p:nvSpPr>
        <p:spPr>
          <a:xfrm>
            <a:off x="640080" y="777240"/>
            <a:ext cx="10881360" cy="868680"/>
          </a:xfrm>
          <a:prstGeom prst="rect">
            <a:avLst/>
          </a:prstGeom>
          <a:noFill/>
          <a:ln/>
        </p:spPr>
        <p:txBody>
          <a:bodyPr wrap="square" lIns="0" tIns="0" rIns="0" bIns="0" rtlCol="0" anchor="t"/>
          <a:lstStyle/>
          <a:p>
            <a:pPr algn="l" indent="0" marL="0">
              <a:buNone/>
            </a:pPr>
            <a:r>
              <a:rPr lang="en-US" sz="3200" b="1" dirty="0">
                <a:solidFill>
                  <a:srgbClr val="14213D"/>
                </a:solidFill>
                <a:latin typeface="Calibri" pitchFamily="34" charset="0"/>
                <a:ea typeface="Calibri" pitchFamily="34" charset="-122"/>
                <a:cs typeface="Calibri" pitchFamily="34" charset="-120"/>
              </a:rPr>
              <a:t>Async by default, PII redaction built in</a:t>
            </a:r>
            <a:endParaRPr lang="en-US" sz="3200" dirty="0"/>
          </a:p>
        </p:txBody>
      </p:sp>
      <p:sp>
        <p:nvSpPr>
          <p:cNvPr id="4" name="Shape 2"/>
          <p:cNvSpPr/>
          <p:nvPr/>
        </p:nvSpPr>
        <p:spPr>
          <a:xfrm>
            <a:off x="640080" y="1874520"/>
            <a:ext cx="5349240" cy="2103120"/>
          </a:xfrm>
          <a:prstGeom prst="roundRect">
            <a:avLst>
              <a:gd name="adj" fmla="val 3478"/>
            </a:avLst>
          </a:prstGeom>
          <a:solidFill>
            <a:srgbClr val="F4F6F8"/>
          </a:solidFill>
          <a:ln w="12700">
            <a:solidFill>
              <a:srgbClr val="E3E6E4"/>
            </a:solidFill>
            <a:prstDash val="solid"/>
          </a:ln>
        </p:spPr>
      </p:sp>
      <p:sp>
        <p:nvSpPr>
          <p:cNvPr id="5" name="Text 3"/>
          <p:cNvSpPr txBox="1"/>
          <p:nvPr/>
        </p:nvSpPr>
        <p:spPr>
          <a:xfrm>
            <a:off x="914400" y="2075688"/>
            <a:ext cx="4846320" cy="365760"/>
          </a:xfrm>
          <a:prstGeom prst="rect">
            <a:avLst/>
          </a:prstGeom>
          <a:noFill/>
          <a:ln/>
        </p:spPr>
        <p:txBody>
          <a:bodyPr wrap="square" lIns="0" tIns="0" rIns="0" bIns="0" rtlCol="0" anchor="t"/>
          <a:lstStyle/>
          <a:p>
            <a:pPr algn="l" indent="0" marL="0">
              <a:buNone/>
            </a:pPr>
            <a:r>
              <a:rPr lang="en-US" sz="1600" b="1" dirty="0">
                <a:solidFill>
                  <a:srgbClr val="14213D"/>
                </a:solidFill>
              </a:rPr>
              <a:t>Async — submit, then poll (or event)</a:t>
            </a:r>
            <a:endParaRPr lang="en-US" sz="1600" dirty="0"/>
          </a:p>
        </p:txBody>
      </p:sp>
      <p:sp>
        <p:nvSpPr>
          <p:cNvPr id="6" name="Text 4"/>
          <p:cNvSpPr txBox="1"/>
          <p:nvPr/>
        </p:nvSpPr>
        <p:spPr>
          <a:xfrm>
            <a:off x="914400" y="2487168"/>
            <a:ext cx="4846320" cy="1371600"/>
          </a:xfrm>
          <a:prstGeom prst="rect">
            <a:avLst/>
          </a:prstGeom>
          <a:noFill/>
          <a:ln/>
        </p:spPr>
        <p:txBody>
          <a:bodyPr wrap="square" lIns="0" tIns="0" rIns="0" bIns="0" rtlCol="0" anchor="t"/>
          <a:lstStyle/>
          <a:p>
            <a:pPr algn="l" indent="0" marL="0">
              <a:lnSpc>
                <a:spcPct val="105000"/>
              </a:lnSpc>
              <a:buNone/>
            </a:pPr>
            <a:r>
              <a:rPr lang="en-US" sz="1400" b="1" dirty="0">
                <a:solidFill>
                  <a:srgbClr val="2563EB"/>
                </a:solidFill>
                <a:latin typeface="Consolas" pitchFamily="34" charset="0"/>
                <a:ea typeface="Consolas" pitchFamily="34" charset="-122"/>
                <a:cs typeface="Consolas" pitchFamily="34" charset="-120"/>
              </a:rPr>
              <a:t>invoke_data_automation_async</a:t>
            </a:r>
            <a:pPr algn="l" indent="0" marL="0">
              <a:lnSpc>
                <a:spcPct val="105000"/>
              </a:lnSpc>
              <a:buNone/>
            </a:pPr>
            <a:r>
              <a:rPr lang="en-US" sz="1400" dirty="0">
                <a:solidFill>
                  <a:srgbClr val="4A5568"/>
                </a:solidFill>
              </a:rPr>
              <a:t> queues the work, returns a job ID, writes results to S3. In production you skip polling — a </a:t>
            </a:r>
            <a:pPr algn="l" indent="0" marL="0">
              <a:lnSpc>
                <a:spcPct val="105000"/>
              </a:lnSpc>
              <a:buNone/>
            </a:pPr>
            <a:r>
              <a:rPr lang="en-US" sz="1400" dirty="0">
                <a:solidFill>
                  <a:srgbClr val="14213D"/>
                </a:solidFill>
                <a:latin typeface="Consolas" pitchFamily="34" charset="0"/>
                <a:ea typeface="Consolas" pitchFamily="34" charset="-122"/>
                <a:cs typeface="Consolas" pitchFamily="34" charset="-120"/>
              </a:rPr>
              <a:t>notificationConfiguration</a:t>
            </a:r>
            <a:pPr algn="l" indent="0" marL="0">
              <a:lnSpc>
                <a:spcPct val="105000"/>
              </a:lnSpc>
              <a:buNone/>
            </a:pPr>
            <a:r>
              <a:rPr lang="en-US" sz="1400" dirty="0">
                <a:solidFill>
                  <a:srgbClr val="4A5568"/>
                </a:solidFill>
              </a:rPr>
              <a:t> fires an EventBridge / SNS event on completion.</a:t>
            </a:r>
            <a:endParaRPr lang="en-US" sz="1400" dirty="0"/>
          </a:p>
        </p:txBody>
      </p:sp>
      <p:sp>
        <p:nvSpPr>
          <p:cNvPr id="7" name="Shape 5"/>
          <p:cNvSpPr/>
          <p:nvPr/>
        </p:nvSpPr>
        <p:spPr>
          <a:xfrm>
            <a:off x="6172200" y="1874520"/>
            <a:ext cx="5349240" cy="2103120"/>
          </a:xfrm>
          <a:prstGeom prst="roundRect">
            <a:avLst>
              <a:gd name="adj" fmla="val 3478"/>
            </a:avLst>
          </a:prstGeom>
          <a:solidFill>
            <a:srgbClr val="F4F6F8"/>
          </a:solidFill>
          <a:ln w="12700">
            <a:solidFill>
              <a:srgbClr val="E3E6E4"/>
            </a:solidFill>
            <a:prstDash val="solid"/>
          </a:ln>
        </p:spPr>
      </p:sp>
      <p:sp>
        <p:nvSpPr>
          <p:cNvPr id="8" name="Text 6"/>
          <p:cNvSpPr txBox="1"/>
          <p:nvPr/>
        </p:nvSpPr>
        <p:spPr>
          <a:xfrm>
            <a:off x="6446520" y="2075688"/>
            <a:ext cx="4846320" cy="365760"/>
          </a:xfrm>
          <a:prstGeom prst="rect">
            <a:avLst/>
          </a:prstGeom>
          <a:noFill/>
          <a:ln/>
        </p:spPr>
        <p:txBody>
          <a:bodyPr wrap="square" lIns="0" tIns="0" rIns="0" bIns="0" rtlCol="0" anchor="t"/>
          <a:lstStyle/>
          <a:p>
            <a:pPr algn="l" indent="0" marL="0">
              <a:buNone/>
            </a:pPr>
            <a:r>
              <a:rPr lang="en-US" sz="1600" b="1" dirty="0">
                <a:solidFill>
                  <a:srgbClr val="14213D"/>
                </a:solidFill>
              </a:rPr>
              <a:t>PII — native, no Guardrails bolt-on</a:t>
            </a:r>
            <a:endParaRPr lang="en-US" sz="1600" dirty="0"/>
          </a:p>
        </p:txBody>
      </p:sp>
      <p:sp>
        <p:nvSpPr>
          <p:cNvPr id="9" name="Text 7"/>
          <p:cNvSpPr txBox="1"/>
          <p:nvPr/>
        </p:nvSpPr>
        <p:spPr>
          <a:xfrm>
            <a:off x="6446520" y="2487168"/>
            <a:ext cx="4846320" cy="1371600"/>
          </a:xfrm>
          <a:prstGeom prst="rect">
            <a:avLst/>
          </a:prstGeom>
          <a:noFill/>
          <a:ln/>
        </p:spPr>
        <p:txBody>
          <a:bodyPr wrap="square" lIns="0" tIns="0" rIns="0" bIns="0" rtlCol="0" anchor="t"/>
          <a:lstStyle/>
          <a:p>
            <a:pPr algn="l" indent="0" marL="0">
              <a:lnSpc>
                <a:spcPct val="105000"/>
              </a:lnSpc>
              <a:buNone/>
            </a:pPr>
            <a:r>
              <a:rPr lang="en-US" sz="1400" dirty="0">
                <a:solidFill>
                  <a:srgbClr val="4A5568"/>
                </a:solidFill>
              </a:rPr>
              <a:t>A project-level </a:t>
            </a:r>
            <a:pPr algn="l" indent="0" marL="0">
              <a:lnSpc>
                <a:spcPct val="105000"/>
              </a:lnSpc>
              <a:buNone/>
            </a:pPr>
            <a:r>
              <a:rPr lang="en-US" sz="1400" dirty="0">
                <a:solidFill>
                  <a:srgbClr val="14213D"/>
                </a:solidFill>
                <a:latin typeface="Consolas" pitchFamily="34" charset="0"/>
                <a:ea typeface="Consolas" pitchFamily="34" charset="-122"/>
                <a:cs typeface="Consolas" pitchFamily="34" charset="-120"/>
              </a:rPr>
              <a:t>sensitiveDataConfiguration</a:t>
            </a:r>
            <a:pPr algn="l" indent="0" marL="0">
              <a:lnSpc>
                <a:spcPct val="105000"/>
              </a:lnSpc>
              <a:buNone/>
            </a:pPr>
            <a:r>
              <a:rPr lang="en-US" sz="1400" dirty="0">
                <a:solidFill>
                  <a:srgbClr val="4A5568"/>
                </a:solidFill>
              </a:rPr>
              <a:t> detects and redacts names, SSNs, bank &amp; card numbers across both pipelines. </a:t>
            </a:r>
            <a:pPr algn="l" indent="0" marL="0">
              <a:lnSpc>
                <a:spcPct val="105000"/>
              </a:lnSpc>
              <a:buNone/>
            </a:pPr>
            <a:r>
              <a:rPr lang="en-US" sz="1400" b="1" dirty="0">
                <a:solidFill>
                  <a:srgbClr val="1E3A8A"/>
                </a:solidFill>
              </a:rPr>
              <a:t>Redaction is destructive</a:t>
            </a:r>
            <a:pPr algn="l" indent="0" marL="0">
              <a:lnSpc>
                <a:spcPct val="105000"/>
              </a:lnSpc>
              <a:buNone/>
            </a:pPr>
            <a:r>
              <a:rPr lang="en-US" sz="1400" dirty="0">
                <a:solidFill>
                  <a:srgbClr val="4A5568"/>
                </a:solidFill>
              </a:rPr>
              <a:t> — keep an access-controlled unredacted copy.</a:t>
            </a:r>
            <a:endParaRPr lang="en-US" sz="1400" dirty="0"/>
          </a:p>
        </p:txBody>
      </p:sp>
      <p:sp>
        <p:nvSpPr>
          <p:cNvPr id="10" name="Shape 8"/>
          <p:cNvSpPr/>
          <p:nvPr/>
        </p:nvSpPr>
        <p:spPr>
          <a:xfrm>
            <a:off x="640080" y="4160520"/>
            <a:ext cx="10881360" cy="1600200"/>
          </a:xfrm>
          <a:prstGeom prst="roundRect">
            <a:avLst>
              <a:gd name="adj" fmla="val 4571"/>
            </a:avLst>
          </a:prstGeom>
          <a:solidFill>
            <a:srgbClr val="14213D"/>
          </a:solidFill>
          <a:ln/>
        </p:spPr>
      </p:sp>
      <p:sp>
        <p:nvSpPr>
          <p:cNvPr id="11" name="Text 9"/>
          <p:cNvSpPr txBox="1"/>
          <p:nvPr/>
        </p:nvSpPr>
        <p:spPr>
          <a:xfrm>
            <a:off x="914400" y="4343400"/>
            <a:ext cx="10332720" cy="365760"/>
          </a:xfrm>
          <a:prstGeom prst="rect">
            <a:avLst/>
          </a:prstGeom>
          <a:noFill/>
          <a:ln/>
        </p:spPr>
        <p:txBody>
          <a:bodyPr wrap="square" lIns="0" tIns="0" rIns="0" bIns="0" rtlCol="0" anchor="t"/>
          <a:lstStyle/>
          <a:p>
            <a:pPr algn="l" indent="0" marL="0">
              <a:buNone/>
            </a:pPr>
            <a:r>
              <a:rPr lang="en-US" sz="1600" b="1" dirty="0">
                <a:solidFill>
                  <a:srgbClr val="60A5FA"/>
                </a:solidFill>
              </a:rPr>
              <a:t>Why this matters for AskGartner</a:t>
            </a:r>
            <a:endParaRPr lang="en-US" sz="1600" dirty="0"/>
          </a:p>
        </p:txBody>
      </p:sp>
      <p:sp>
        <p:nvSpPr>
          <p:cNvPr id="12" name="Text 10"/>
          <p:cNvSpPr txBox="1"/>
          <p:nvPr/>
        </p:nvSpPr>
        <p:spPr>
          <a:xfrm>
            <a:off x="914400" y="4754880"/>
            <a:ext cx="10332720" cy="914400"/>
          </a:xfrm>
          <a:prstGeom prst="rect">
            <a:avLst/>
          </a:prstGeom>
          <a:noFill/>
          <a:ln/>
        </p:spPr>
        <p:txBody>
          <a:bodyPr wrap="square" lIns="0" tIns="0" rIns="0" bIns="0" rtlCol="0" anchor="t"/>
          <a:lstStyle/>
          <a:p>
            <a:pPr algn="l" indent="0" marL="0">
              <a:buNone/>
            </a:pPr>
            <a:r>
              <a:rPr lang="en-US" sz="1450" dirty="0">
                <a:solidFill>
                  <a:srgbClr val="BFD8D5"/>
                </a:solidFill>
              </a:rPr>
              <a:t>Async + events let document parsing run completely out-of-band from the real-time conversation loop — the agent never blocks on a slow extraction. Native PII means client documents are scrubbed before they ever sit in an S3 bucket. Both are load-bearing in the design that follows.</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ph idx="100" type="body" hasCustomPrompt="1"/>
          </p:nvPr>
        </p:nvSpPr>
        <p:spPr>
          <a:xfrm>
            <a:off x="822960" y="868680"/>
            <a:ext cx="10515600" cy="365760"/>
          </a:xfrm>
          <a:prstGeom prst="rect">
            <a:avLst/>
          </a:prstGeom>
          <a:noFill/>
          <a:ln/>
        </p:spPr>
        <p:txBody>
          <a:bodyPr wrap="square" lIns="0" tIns="0" rIns="0" bIns="0" rtlCol="0" anchor="t"/>
          <a:lstStyle/>
          <a:p>
            <a:pPr algn="l" indent="0" marL="0">
              <a:buNone/>
            </a:pPr>
            <a:r>
              <a:rPr lang="en-US" sz="1400" b="1" spc="200" kern="0" dirty="0">
                <a:solidFill>
                  <a:srgbClr val="60A5FA"/>
                </a:solidFill>
                <a:latin typeface="Consolas" pitchFamily="34" charset="0"/>
                <a:ea typeface="Consolas" pitchFamily="34" charset="-122"/>
                <a:cs typeface="Consolas" pitchFamily="34" charset="-120"/>
              </a:rPr>
              <a:t>THE PRODUCT WE'RE BUILDING</a:t>
            </a:r>
            <a:endParaRPr lang="en-US" sz="1400" dirty="0"/>
          </a:p>
        </p:txBody>
      </p:sp>
      <p:sp>
        <p:nvSpPr>
          <p:cNvPr id="3" name="Text 0"/>
          <p:cNvSpPr txBox="1"/>
          <p:nvPr>
            <p:ph idx="101" type="title" hasCustomPrompt="1"/>
          </p:nvPr>
        </p:nvSpPr>
        <p:spPr>
          <a:xfrm>
            <a:off x="822960" y="1280160"/>
            <a:ext cx="10515600" cy="2011680"/>
          </a:xfrm>
          <a:prstGeom prst="rect">
            <a:avLst/>
          </a:prstGeom>
          <a:noFill/>
          <a:ln/>
        </p:spPr>
        <p:txBody>
          <a:bodyPr wrap="square" lIns="0" tIns="0" rIns="0" bIns="0" rtlCol="0" anchor="t"/>
          <a:lstStyle/>
          <a:p>
            <a:pPr algn="l" indent="0" marL="0">
              <a:buNone/>
            </a:pPr>
            <a:r>
              <a:rPr lang="en-US" sz="4400" b="1" dirty="0">
                <a:solidFill>
                  <a:srgbClr val="FFFFFF"/>
                </a:solidFill>
                <a:latin typeface="Calibri" pitchFamily="34" charset="0"/>
                <a:ea typeface="Calibri" pitchFamily="34" charset="-122"/>
                <a:cs typeface="Calibri" pitchFamily="34" charset="-120"/>
              </a:rPr>
              <a:t>AskGartner: answers grounded in Gartner</a:t>
            </a:r>
            <a:endParaRPr lang="en-US" sz="4400" dirty="0"/>
          </a:p>
          <a:p>
            <a:pPr algn="l" indent="0" marL="0">
              <a:buNone/>
            </a:pPr>
            <a:r>
              <a:rPr lang="en-US" sz="4400" b="1" dirty="0">
                <a:solidFill>
                  <a:srgbClr val="FFFFFF"/>
                </a:solidFill>
                <a:latin typeface="Calibri" pitchFamily="34" charset="0"/>
                <a:ea typeface="Calibri" pitchFamily="34" charset="-122"/>
                <a:cs typeface="Calibri" pitchFamily="34" charset="-120"/>
              </a:rPr>
              <a:t>research and your own documents</a:t>
            </a:r>
            <a:endParaRPr lang="en-US" sz="4400" dirty="0"/>
          </a:p>
        </p:txBody>
      </p:sp>
      <p:sp>
        <p:nvSpPr>
          <p:cNvPr id="4" name="Text 0"/>
          <p:cNvSpPr txBox="1"/>
          <p:nvPr>
            <p:ph idx="102" type="body" hasCustomPrompt="1"/>
          </p:nvPr>
        </p:nvSpPr>
        <p:spPr>
          <a:xfrm>
            <a:off x="822960" y="3383280"/>
            <a:ext cx="10515600" cy="2560320"/>
          </a:xfrm>
          <a:prstGeom prst="rect">
            <a:avLst/>
          </a:prstGeom>
          <a:noFill/>
          <a:ln/>
        </p:spPr>
        <p:txBody>
          <a:bodyPr wrap="square" lIns="0" tIns="0" rIns="0" bIns="0" rtlCol="0" anchor="t"/>
          <a:lstStyle/>
          <a:p>
            <a:pPr algn="l" indent="0" marL="0">
              <a:buNone/>
            </a:pPr>
            <a:r>
              <a:rPr lang="en-US" sz="2000" b="1" dirty="0">
                <a:solidFill>
                  <a:srgbClr val="60A5FA"/>
                </a:solidFill>
              </a:rPr>
              <a:t>Goal:  </a:t>
            </a:r>
            <a:pPr algn="l" indent="0" marL="0">
              <a:buNone/>
            </a:pPr>
            <a:r>
              <a:rPr lang="en-US" sz="2000" dirty="0">
                <a:solidFill>
                  <a:srgbClr val="BFD8D5"/>
                </a:solidFill>
              </a:rPr>
              <a:t>obtain an agent-generated answer using the user's uploaded documents AND Gartner's published research corpus — turning the slow, rigid document-review process into a near-instant conversational one.</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ph idx="100" type="body" hasCustomPrompt="1"/>
          </p:nvPr>
        </p:nvSpPr>
        <p:spPr>
          <a:xfrm>
            <a:off x="640080" y="457200"/>
            <a:ext cx="10881360" cy="320040"/>
          </a:xfrm>
          <a:prstGeom prst="rect">
            <a:avLst/>
          </a:prstGeom>
          <a:noFill/>
          <a:ln/>
        </p:spPr>
        <p:txBody>
          <a:bodyPr wrap="square" lIns="0" tIns="0" rIns="0" bIns="0" rtlCol="0" anchor="t"/>
          <a:lstStyle/>
          <a:p>
            <a:pPr algn="l" indent="0" marL="0">
              <a:buNone/>
            </a:pPr>
            <a:r>
              <a:rPr lang="en-US" sz="1300" b="1" spc="200" kern="0" dirty="0">
                <a:solidFill>
                  <a:srgbClr val="2563EB"/>
                </a:solidFill>
                <a:latin typeface="Consolas" pitchFamily="34" charset="0"/>
                <a:ea typeface="Consolas" pitchFamily="34" charset="-122"/>
                <a:cs typeface="Consolas" pitchFamily="34" charset="-120"/>
              </a:rPr>
              <a:t>TARGET ARCHITECTURE</a:t>
            </a:r>
            <a:endParaRPr lang="en-US" sz="1300" dirty="0"/>
          </a:p>
        </p:txBody>
      </p:sp>
      <p:sp>
        <p:nvSpPr>
          <p:cNvPr id="3" name="Text 0"/>
          <p:cNvSpPr txBox="1"/>
          <p:nvPr>
            <p:ph idx="101" type="title" hasCustomPrompt="1"/>
          </p:nvPr>
        </p:nvSpPr>
        <p:spPr>
          <a:xfrm>
            <a:off x="640080" y="777240"/>
            <a:ext cx="10881360" cy="868680"/>
          </a:xfrm>
          <a:prstGeom prst="rect">
            <a:avLst/>
          </a:prstGeom>
          <a:noFill/>
          <a:ln/>
        </p:spPr>
        <p:txBody>
          <a:bodyPr wrap="square" lIns="0" tIns="0" rIns="0" bIns="0" rtlCol="0" anchor="t"/>
          <a:lstStyle/>
          <a:p>
            <a:pPr algn="l" indent="0" marL="0">
              <a:buNone/>
            </a:pPr>
            <a:r>
              <a:rPr lang="en-US" sz="3200" b="1" dirty="0">
                <a:solidFill>
                  <a:srgbClr val="14213D"/>
                </a:solidFill>
                <a:latin typeface="Calibri" pitchFamily="34" charset="0"/>
                <a:ea typeface="Calibri" pitchFamily="34" charset="-122"/>
                <a:cs typeface="Calibri" pitchFamily="34" charset="-120"/>
              </a:rPr>
              <a:t>The components and how a request flows</a:t>
            </a:r>
            <a:endParaRPr lang="en-US" sz="3200" dirty="0"/>
          </a:p>
        </p:txBody>
      </p:sp>
      <p:sp>
        <p:nvSpPr>
          <p:cNvPr id="4" name="Shape 2"/>
          <p:cNvSpPr/>
          <p:nvPr/>
        </p:nvSpPr>
        <p:spPr>
          <a:xfrm>
            <a:off x="640080" y="2011680"/>
            <a:ext cx="1554480" cy="713232"/>
          </a:xfrm>
          <a:prstGeom prst="roundRect">
            <a:avLst>
              <a:gd name="adj" fmla="val 10256"/>
            </a:avLst>
          </a:prstGeom>
          <a:solidFill>
            <a:srgbClr val="DBEAFE"/>
          </a:solidFill>
          <a:ln/>
        </p:spPr>
      </p:sp>
      <p:sp>
        <p:nvSpPr>
          <p:cNvPr id="5" name="Text 3"/>
          <p:cNvSpPr txBox="1"/>
          <p:nvPr/>
        </p:nvSpPr>
        <p:spPr>
          <a:xfrm>
            <a:off x="713232" y="2139696"/>
            <a:ext cx="1408176" cy="457200"/>
          </a:xfrm>
          <a:prstGeom prst="rect">
            <a:avLst/>
          </a:prstGeom>
          <a:noFill/>
          <a:ln/>
        </p:spPr>
        <p:txBody>
          <a:bodyPr wrap="square" lIns="0" tIns="0" rIns="0" bIns="0" rtlCol="0" anchor="ctr"/>
          <a:lstStyle/>
          <a:p>
            <a:pPr algn="ctr" indent="0" marL="0">
              <a:buNone/>
            </a:pPr>
            <a:r>
              <a:rPr lang="en-US" sz="1200" b="1" dirty="0">
                <a:solidFill>
                  <a:srgbClr val="14213D"/>
                </a:solidFill>
              </a:rPr>
              <a:t>AskGartner UI</a:t>
            </a:r>
            <a:endParaRPr lang="en-US" sz="1200" dirty="0"/>
          </a:p>
        </p:txBody>
      </p:sp>
      <p:sp>
        <p:nvSpPr>
          <p:cNvPr id="6" name="Shape 4"/>
          <p:cNvSpPr/>
          <p:nvPr/>
        </p:nvSpPr>
        <p:spPr>
          <a:xfrm>
            <a:off x="2514600" y="2011680"/>
            <a:ext cx="2011680" cy="713232"/>
          </a:xfrm>
          <a:prstGeom prst="roundRect">
            <a:avLst>
              <a:gd name="adj" fmla="val 10256"/>
            </a:avLst>
          </a:prstGeom>
          <a:solidFill>
            <a:srgbClr val="F4F6F8"/>
          </a:solidFill>
          <a:ln/>
        </p:spPr>
      </p:sp>
      <p:sp>
        <p:nvSpPr>
          <p:cNvPr id="7" name="Text 5"/>
          <p:cNvSpPr txBox="1"/>
          <p:nvPr/>
        </p:nvSpPr>
        <p:spPr>
          <a:xfrm>
            <a:off x="2587752" y="2139696"/>
            <a:ext cx="1865376" cy="457200"/>
          </a:xfrm>
          <a:prstGeom prst="rect">
            <a:avLst/>
          </a:prstGeom>
          <a:noFill/>
          <a:ln/>
        </p:spPr>
        <p:txBody>
          <a:bodyPr wrap="square" lIns="0" tIns="0" rIns="0" bIns="0" rtlCol="0" anchor="ctr"/>
          <a:lstStyle/>
          <a:p>
            <a:pPr algn="ctr" indent="0" marL="0">
              <a:buNone/>
            </a:pPr>
            <a:r>
              <a:rPr lang="en-US" sz="1200" b="1" dirty="0">
                <a:solidFill>
                  <a:srgbClr val="14213D"/>
                </a:solidFill>
              </a:rPr>
              <a:t>Ingestion API</a:t>
            </a:r>
            <a:endParaRPr lang="en-US" sz="1200" dirty="0"/>
          </a:p>
          <a:p>
            <a:pPr algn="ctr" indent="0" marL="0">
              <a:buNone/>
            </a:pPr>
            <a:r>
              <a:rPr lang="en-US" sz="1200" b="1" dirty="0">
                <a:solidFill>
                  <a:srgbClr val="14213D"/>
                </a:solidFill>
              </a:rPr>
              <a:t>(presigned S3)</a:t>
            </a:r>
            <a:endParaRPr lang="en-US" sz="1200" dirty="0"/>
          </a:p>
        </p:txBody>
      </p:sp>
      <p:sp>
        <p:nvSpPr>
          <p:cNvPr id="8" name="Shape 6"/>
          <p:cNvSpPr/>
          <p:nvPr/>
        </p:nvSpPr>
        <p:spPr>
          <a:xfrm>
            <a:off x="4846320" y="2011680"/>
            <a:ext cx="1920240" cy="713232"/>
          </a:xfrm>
          <a:prstGeom prst="roundRect">
            <a:avLst>
              <a:gd name="adj" fmla="val 10256"/>
            </a:avLst>
          </a:prstGeom>
          <a:solidFill>
            <a:srgbClr val="F4F6F8"/>
          </a:solidFill>
          <a:ln/>
        </p:spPr>
      </p:sp>
      <p:sp>
        <p:nvSpPr>
          <p:cNvPr id="9" name="Text 7"/>
          <p:cNvSpPr txBox="1"/>
          <p:nvPr/>
        </p:nvSpPr>
        <p:spPr>
          <a:xfrm>
            <a:off x="4919472" y="2139696"/>
            <a:ext cx="1773936" cy="457200"/>
          </a:xfrm>
          <a:prstGeom prst="rect">
            <a:avLst/>
          </a:prstGeom>
          <a:noFill/>
          <a:ln/>
        </p:spPr>
        <p:txBody>
          <a:bodyPr wrap="square" lIns="0" tIns="0" rIns="0" bIns="0" rtlCol="0" anchor="ctr"/>
          <a:lstStyle/>
          <a:p>
            <a:pPr algn="ctr" indent="0" marL="0">
              <a:buNone/>
            </a:pPr>
            <a:r>
              <a:rPr lang="en-US" sz="1200" b="1" dirty="0">
                <a:solidFill>
                  <a:srgbClr val="14213D"/>
                </a:solidFill>
              </a:rPr>
              <a:t>Security Gate</a:t>
            </a:r>
            <a:endParaRPr lang="en-US" sz="1200" dirty="0"/>
          </a:p>
          <a:p>
            <a:pPr algn="ctr" indent="0" marL="0">
              <a:buNone/>
            </a:pPr>
            <a:r>
              <a:rPr lang="en-US" sz="1200" b="1" dirty="0">
                <a:solidFill>
                  <a:srgbClr val="14213D"/>
                </a:solidFill>
              </a:rPr>
              <a:t>(GuardDuty)</a:t>
            </a:r>
            <a:endParaRPr lang="en-US" sz="1200" dirty="0"/>
          </a:p>
        </p:txBody>
      </p:sp>
      <p:sp>
        <p:nvSpPr>
          <p:cNvPr id="10" name="Shape 8"/>
          <p:cNvSpPr/>
          <p:nvPr/>
        </p:nvSpPr>
        <p:spPr>
          <a:xfrm>
            <a:off x="7086600" y="2011680"/>
            <a:ext cx="1691640" cy="713232"/>
          </a:xfrm>
          <a:prstGeom prst="roundRect">
            <a:avLst>
              <a:gd name="adj" fmla="val 10256"/>
            </a:avLst>
          </a:prstGeom>
          <a:solidFill>
            <a:srgbClr val="E9D8FD"/>
          </a:solidFill>
          <a:ln/>
        </p:spPr>
      </p:sp>
      <p:sp>
        <p:nvSpPr>
          <p:cNvPr id="11" name="Text 9"/>
          <p:cNvSpPr txBox="1"/>
          <p:nvPr/>
        </p:nvSpPr>
        <p:spPr>
          <a:xfrm>
            <a:off x="7159752" y="2139696"/>
            <a:ext cx="1545336" cy="457200"/>
          </a:xfrm>
          <a:prstGeom prst="rect">
            <a:avLst/>
          </a:prstGeom>
          <a:noFill/>
          <a:ln/>
        </p:spPr>
        <p:txBody>
          <a:bodyPr wrap="square" lIns="0" tIns="0" rIns="0" bIns="0" rtlCol="0" anchor="ctr"/>
          <a:lstStyle/>
          <a:p>
            <a:pPr algn="ctr" indent="0" marL="0">
              <a:buNone/>
            </a:pPr>
            <a:r>
              <a:rPr lang="en-US" sz="1200" b="1" dirty="0">
                <a:solidFill>
                  <a:srgbClr val="14213D"/>
                </a:solidFill>
              </a:rPr>
              <a:t>S3 Landing</a:t>
            </a:r>
            <a:endParaRPr lang="en-US" sz="1200" dirty="0"/>
          </a:p>
        </p:txBody>
      </p:sp>
      <p:sp>
        <p:nvSpPr>
          <p:cNvPr id="12" name="Shape 10"/>
          <p:cNvSpPr/>
          <p:nvPr/>
        </p:nvSpPr>
        <p:spPr>
          <a:xfrm>
            <a:off x="9098280" y="2011680"/>
            <a:ext cx="2423160" cy="713232"/>
          </a:xfrm>
          <a:prstGeom prst="roundRect">
            <a:avLst>
              <a:gd name="adj" fmla="val 10256"/>
            </a:avLst>
          </a:prstGeom>
          <a:solidFill>
            <a:srgbClr val="14213D"/>
          </a:solidFill>
          <a:ln/>
        </p:spPr>
      </p:sp>
      <p:sp>
        <p:nvSpPr>
          <p:cNvPr id="13" name="Text 11"/>
          <p:cNvSpPr txBox="1"/>
          <p:nvPr/>
        </p:nvSpPr>
        <p:spPr>
          <a:xfrm>
            <a:off x="9171432" y="2139696"/>
            <a:ext cx="2276856" cy="457200"/>
          </a:xfrm>
          <a:prstGeom prst="rect">
            <a:avLst/>
          </a:prstGeom>
          <a:noFill/>
          <a:ln/>
        </p:spPr>
        <p:txBody>
          <a:bodyPr wrap="square" lIns="0" tIns="0" rIns="0" bIns="0" rtlCol="0" anchor="ctr"/>
          <a:lstStyle/>
          <a:p>
            <a:pPr algn="ctr" indent="0" marL="0">
              <a:buNone/>
            </a:pPr>
            <a:r>
              <a:rPr lang="en-US" sz="1200" b="1" dirty="0">
                <a:solidFill>
                  <a:srgbClr val="FFFFFF"/>
                </a:solidFill>
              </a:rPr>
              <a:t>BDA extraction</a:t>
            </a:r>
            <a:endParaRPr lang="en-US" sz="1200" dirty="0"/>
          </a:p>
        </p:txBody>
      </p:sp>
      <p:sp>
        <p:nvSpPr>
          <p:cNvPr id="14" name="Shape 12"/>
          <p:cNvSpPr/>
          <p:nvPr/>
        </p:nvSpPr>
        <p:spPr>
          <a:xfrm>
            <a:off x="2194560" y="2368296"/>
            <a:ext cx="320040" cy="0"/>
          </a:xfrm>
          <a:prstGeom prst="line">
            <a:avLst/>
          </a:prstGeom>
          <a:noFill/>
          <a:ln w="19050">
            <a:solidFill>
              <a:srgbClr val="4A5568"/>
            </a:solidFill>
            <a:prstDash val="solid"/>
            <a:tailEnd type="triangle"/>
          </a:ln>
        </p:spPr>
      </p:sp>
      <p:sp>
        <p:nvSpPr>
          <p:cNvPr id="15" name="Shape 13"/>
          <p:cNvSpPr/>
          <p:nvPr/>
        </p:nvSpPr>
        <p:spPr>
          <a:xfrm>
            <a:off x="4526280" y="2368296"/>
            <a:ext cx="320040" cy="0"/>
          </a:xfrm>
          <a:prstGeom prst="line">
            <a:avLst/>
          </a:prstGeom>
          <a:noFill/>
          <a:ln w="19050">
            <a:solidFill>
              <a:srgbClr val="4A5568"/>
            </a:solidFill>
            <a:prstDash val="solid"/>
            <a:tailEnd type="triangle"/>
          </a:ln>
        </p:spPr>
      </p:sp>
      <p:sp>
        <p:nvSpPr>
          <p:cNvPr id="16" name="Shape 14"/>
          <p:cNvSpPr/>
          <p:nvPr/>
        </p:nvSpPr>
        <p:spPr>
          <a:xfrm>
            <a:off x="6766560" y="2368296"/>
            <a:ext cx="320040" cy="0"/>
          </a:xfrm>
          <a:prstGeom prst="line">
            <a:avLst/>
          </a:prstGeom>
          <a:noFill/>
          <a:ln w="19050">
            <a:solidFill>
              <a:srgbClr val="4A5568"/>
            </a:solidFill>
            <a:prstDash val="solid"/>
            <a:tailEnd type="triangle"/>
          </a:ln>
        </p:spPr>
      </p:sp>
      <p:sp>
        <p:nvSpPr>
          <p:cNvPr id="17" name="Shape 15"/>
          <p:cNvSpPr/>
          <p:nvPr/>
        </p:nvSpPr>
        <p:spPr>
          <a:xfrm>
            <a:off x="8778240" y="2368296"/>
            <a:ext cx="320040" cy="0"/>
          </a:xfrm>
          <a:prstGeom prst="line">
            <a:avLst/>
          </a:prstGeom>
          <a:noFill/>
          <a:ln w="19050">
            <a:solidFill>
              <a:srgbClr val="4A5568"/>
            </a:solidFill>
            <a:prstDash val="solid"/>
            <a:tailEnd type="triangle"/>
          </a:ln>
        </p:spPr>
      </p:sp>
      <p:sp>
        <p:nvSpPr>
          <p:cNvPr id="18" name="Shape 16"/>
          <p:cNvSpPr/>
          <p:nvPr/>
        </p:nvSpPr>
        <p:spPr>
          <a:xfrm>
            <a:off x="9098280" y="3200400"/>
            <a:ext cx="2423160" cy="713232"/>
          </a:xfrm>
          <a:prstGeom prst="roundRect">
            <a:avLst>
              <a:gd name="adj" fmla="val 10256"/>
            </a:avLst>
          </a:prstGeom>
          <a:solidFill>
            <a:srgbClr val="E9D8FD"/>
          </a:solidFill>
          <a:ln/>
        </p:spPr>
      </p:sp>
      <p:sp>
        <p:nvSpPr>
          <p:cNvPr id="19" name="Text 17"/>
          <p:cNvSpPr txBox="1"/>
          <p:nvPr/>
        </p:nvSpPr>
        <p:spPr>
          <a:xfrm>
            <a:off x="9171432" y="3328416"/>
            <a:ext cx="2276856" cy="457200"/>
          </a:xfrm>
          <a:prstGeom prst="rect">
            <a:avLst/>
          </a:prstGeom>
          <a:noFill/>
          <a:ln/>
        </p:spPr>
        <p:txBody>
          <a:bodyPr wrap="square" lIns="0" tIns="0" rIns="0" bIns="0" rtlCol="0" anchor="ctr"/>
          <a:lstStyle/>
          <a:p>
            <a:pPr algn="ctr" indent="0" marL="0">
              <a:buNone/>
            </a:pPr>
            <a:r>
              <a:rPr lang="en-US" sz="1200" b="1" dirty="0">
                <a:solidFill>
                  <a:srgbClr val="14213D"/>
                </a:solidFill>
              </a:rPr>
              <a:t>S3 Output (markdown)</a:t>
            </a:r>
            <a:endParaRPr lang="en-US" sz="1200" dirty="0"/>
          </a:p>
        </p:txBody>
      </p:sp>
      <p:sp>
        <p:nvSpPr>
          <p:cNvPr id="20" name="Shape 18"/>
          <p:cNvSpPr/>
          <p:nvPr/>
        </p:nvSpPr>
        <p:spPr>
          <a:xfrm>
            <a:off x="7086600" y="3200400"/>
            <a:ext cx="1691640" cy="713232"/>
          </a:xfrm>
          <a:prstGeom prst="roundRect">
            <a:avLst>
              <a:gd name="adj" fmla="val 10256"/>
            </a:avLst>
          </a:prstGeom>
          <a:solidFill>
            <a:srgbClr val="F4F6F8"/>
          </a:solidFill>
          <a:ln/>
        </p:spPr>
      </p:sp>
      <p:sp>
        <p:nvSpPr>
          <p:cNvPr id="21" name="Text 19"/>
          <p:cNvSpPr txBox="1"/>
          <p:nvPr/>
        </p:nvSpPr>
        <p:spPr>
          <a:xfrm>
            <a:off x="7159752" y="3328416"/>
            <a:ext cx="1545336" cy="457200"/>
          </a:xfrm>
          <a:prstGeom prst="rect">
            <a:avLst/>
          </a:prstGeom>
          <a:noFill/>
          <a:ln/>
        </p:spPr>
        <p:txBody>
          <a:bodyPr wrap="square" lIns="0" tIns="0" rIns="0" bIns="0" rtlCol="0" anchor="ctr"/>
          <a:lstStyle/>
          <a:p>
            <a:pPr algn="ctr" indent="0" marL="0">
              <a:buNone/>
            </a:pPr>
            <a:r>
              <a:rPr lang="en-US" sz="1200" b="1" dirty="0">
                <a:solidFill>
                  <a:srgbClr val="14213D"/>
                </a:solidFill>
              </a:rPr>
              <a:t>Normalizer</a:t>
            </a:r>
            <a:endParaRPr lang="en-US" sz="1200" dirty="0"/>
          </a:p>
          <a:p>
            <a:pPr algn="ctr" indent="0" marL="0">
              <a:buNone/>
            </a:pPr>
            <a:r>
              <a:rPr lang="en-US" sz="1200" b="1" dirty="0">
                <a:solidFill>
                  <a:srgbClr val="14213D"/>
                </a:solidFill>
              </a:rPr>
              <a:t>&amp; Chunker</a:t>
            </a:r>
            <a:endParaRPr lang="en-US" sz="1200" dirty="0"/>
          </a:p>
        </p:txBody>
      </p:sp>
      <p:sp>
        <p:nvSpPr>
          <p:cNvPr id="22" name="Shape 20"/>
          <p:cNvSpPr/>
          <p:nvPr/>
        </p:nvSpPr>
        <p:spPr>
          <a:xfrm>
            <a:off x="4846320" y="3200400"/>
            <a:ext cx="1920240" cy="713232"/>
          </a:xfrm>
          <a:prstGeom prst="roundRect">
            <a:avLst>
              <a:gd name="adj" fmla="val 10256"/>
            </a:avLst>
          </a:prstGeom>
          <a:solidFill>
            <a:srgbClr val="F4F6F8"/>
          </a:solidFill>
          <a:ln/>
        </p:spPr>
      </p:sp>
      <p:sp>
        <p:nvSpPr>
          <p:cNvPr id="23" name="Text 21"/>
          <p:cNvSpPr txBox="1"/>
          <p:nvPr/>
        </p:nvSpPr>
        <p:spPr>
          <a:xfrm>
            <a:off x="4919472" y="3328416"/>
            <a:ext cx="1773936" cy="457200"/>
          </a:xfrm>
          <a:prstGeom prst="rect">
            <a:avLst/>
          </a:prstGeom>
          <a:noFill/>
          <a:ln/>
        </p:spPr>
        <p:txBody>
          <a:bodyPr wrap="square" lIns="0" tIns="0" rIns="0" bIns="0" rtlCol="0" anchor="ctr"/>
          <a:lstStyle/>
          <a:p>
            <a:pPr algn="ctr" indent="0" marL="0">
              <a:buNone/>
            </a:pPr>
            <a:r>
              <a:rPr lang="en-US" sz="1200" b="1" dirty="0">
                <a:solidFill>
                  <a:srgbClr val="14213D"/>
                </a:solidFill>
              </a:rPr>
              <a:t>AskGartner Agent</a:t>
            </a:r>
            <a:endParaRPr lang="en-US" sz="1200" dirty="0"/>
          </a:p>
          <a:p>
            <a:pPr algn="ctr" indent="0" marL="0">
              <a:buNone/>
            </a:pPr>
            <a:r>
              <a:rPr lang="en-US" sz="1200" b="1" dirty="0">
                <a:solidFill>
                  <a:srgbClr val="14213D"/>
                </a:solidFill>
              </a:rPr>
              <a:t>(AgentCore)</a:t>
            </a:r>
            <a:endParaRPr lang="en-US" sz="1200" dirty="0"/>
          </a:p>
        </p:txBody>
      </p:sp>
      <p:sp>
        <p:nvSpPr>
          <p:cNvPr id="24" name="Shape 22"/>
          <p:cNvSpPr/>
          <p:nvPr/>
        </p:nvSpPr>
        <p:spPr>
          <a:xfrm>
            <a:off x="2514600" y="3200400"/>
            <a:ext cx="2011680" cy="713232"/>
          </a:xfrm>
          <a:prstGeom prst="roundRect">
            <a:avLst>
              <a:gd name="adj" fmla="val 10256"/>
            </a:avLst>
          </a:prstGeom>
          <a:solidFill>
            <a:srgbClr val="F4F6F8"/>
          </a:solidFill>
          <a:ln/>
        </p:spPr>
      </p:sp>
      <p:sp>
        <p:nvSpPr>
          <p:cNvPr id="25" name="Text 23"/>
          <p:cNvSpPr txBox="1"/>
          <p:nvPr/>
        </p:nvSpPr>
        <p:spPr>
          <a:xfrm>
            <a:off x="2587752" y="3328416"/>
            <a:ext cx="1865376" cy="457200"/>
          </a:xfrm>
          <a:prstGeom prst="rect">
            <a:avLst/>
          </a:prstGeom>
          <a:noFill/>
          <a:ln/>
        </p:spPr>
        <p:txBody>
          <a:bodyPr wrap="square" lIns="0" tIns="0" rIns="0" bIns="0" rtlCol="0" anchor="ctr"/>
          <a:lstStyle/>
          <a:p>
            <a:pPr algn="ctr" indent="0" marL="0">
              <a:buNone/>
            </a:pPr>
            <a:r>
              <a:rPr lang="en-US" sz="1200" b="1" dirty="0">
                <a:solidFill>
                  <a:srgbClr val="14213D"/>
                </a:solidFill>
              </a:rPr>
              <a:t>Convologic +</a:t>
            </a:r>
            <a:endParaRPr lang="en-US" sz="1200" dirty="0"/>
          </a:p>
          <a:p>
            <a:pPr algn="ctr" indent="0" marL="0">
              <a:buNone/>
            </a:pPr>
            <a:r>
              <a:rPr lang="en-US" sz="1200" b="1" dirty="0">
                <a:solidFill>
                  <a:srgbClr val="14213D"/>
                </a:solidFill>
              </a:rPr>
              <a:t>Gartner grounding</a:t>
            </a:r>
            <a:endParaRPr lang="en-US" sz="1200" dirty="0"/>
          </a:p>
        </p:txBody>
      </p:sp>
      <p:sp>
        <p:nvSpPr>
          <p:cNvPr id="26" name="Shape 24"/>
          <p:cNvSpPr/>
          <p:nvPr/>
        </p:nvSpPr>
        <p:spPr>
          <a:xfrm>
            <a:off x="10305288" y="2724912"/>
            <a:ext cx="0" cy="475488"/>
          </a:xfrm>
          <a:prstGeom prst="line">
            <a:avLst/>
          </a:prstGeom>
          <a:noFill/>
          <a:ln w="19050">
            <a:solidFill>
              <a:srgbClr val="4A5568"/>
            </a:solidFill>
            <a:prstDash val="solid"/>
            <a:tailEnd type="triangle"/>
          </a:ln>
        </p:spPr>
      </p:sp>
      <p:sp>
        <p:nvSpPr>
          <p:cNvPr id="27" name="Shape 25"/>
          <p:cNvSpPr/>
          <p:nvPr/>
        </p:nvSpPr>
        <p:spPr>
          <a:xfrm>
            <a:off x="9098280" y="3557016"/>
            <a:ext cx="-320040" cy="0"/>
          </a:xfrm>
          <a:prstGeom prst="line">
            <a:avLst/>
          </a:prstGeom>
          <a:noFill/>
          <a:ln w="19050">
            <a:solidFill>
              <a:srgbClr val="4A5568"/>
            </a:solidFill>
            <a:prstDash val="solid"/>
            <a:tailEnd type="triangle"/>
          </a:ln>
        </p:spPr>
      </p:sp>
      <p:sp>
        <p:nvSpPr>
          <p:cNvPr id="28" name="Shape 26"/>
          <p:cNvSpPr/>
          <p:nvPr/>
        </p:nvSpPr>
        <p:spPr>
          <a:xfrm>
            <a:off x="7086600" y="3557016"/>
            <a:ext cx="-320040" cy="0"/>
          </a:xfrm>
          <a:prstGeom prst="line">
            <a:avLst/>
          </a:prstGeom>
          <a:noFill/>
          <a:ln w="19050">
            <a:solidFill>
              <a:srgbClr val="4A5568"/>
            </a:solidFill>
            <a:prstDash val="solid"/>
            <a:tailEnd type="triangle"/>
          </a:ln>
        </p:spPr>
      </p:sp>
      <p:sp>
        <p:nvSpPr>
          <p:cNvPr id="29" name="Shape 27"/>
          <p:cNvSpPr/>
          <p:nvPr/>
        </p:nvSpPr>
        <p:spPr>
          <a:xfrm>
            <a:off x="4846320" y="3557016"/>
            <a:ext cx="-320040" cy="0"/>
          </a:xfrm>
          <a:prstGeom prst="line">
            <a:avLst/>
          </a:prstGeom>
          <a:noFill/>
          <a:ln w="19050">
            <a:solidFill>
              <a:srgbClr val="4A5568"/>
            </a:solidFill>
            <a:prstDash val="solid"/>
            <a:tailEnd type="triangle"/>
          </a:ln>
        </p:spPr>
      </p:sp>
      <p:sp>
        <p:nvSpPr>
          <p:cNvPr id="30" name="Text 28"/>
          <p:cNvSpPr txBox="1"/>
          <p:nvPr/>
        </p:nvSpPr>
        <p:spPr>
          <a:xfrm>
            <a:off x="640080" y="4297680"/>
            <a:ext cx="5257800" cy="320040"/>
          </a:xfrm>
          <a:prstGeom prst="rect">
            <a:avLst/>
          </a:prstGeom>
          <a:noFill/>
          <a:ln/>
        </p:spPr>
        <p:txBody>
          <a:bodyPr wrap="square" lIns="0" tIns="0" rIns="0" bIns="0" rtlCol="0" anchor="t"/>
          <a:lstStyle/>
          <a:p>
            <a:pPr algn="l" indent="0" marL="0">
              <a:buNone/>
            </a:pPr>
            <a:r>
              <a:rPr lang="en-US" sz="1450" b="1" dirty="0">
                <a:solidFill>
                  <a:srgbClr val="14213D"/>
                </a:solidFill>
              </a:rPr>
              <a:t>Ingestion API Gateway</a:t>
            </a:r>
            <a:endParaRPr lang="en-US" sz="1450" dirty="0"/>
          </a:p>
        </p:txBody>
      </p:sp>
      <p:sp>
        <p:nvSpPr>
          <p:cNvPr id="31" name="Text 29"/>
          <p:cNvSpPr txBox="1"/>
          <p:nvPr/>
        </p:nvSpPr>
        <p:spPr>
          <a:xfrm>
            <a:off x="640080" y="4608576"/>
            <a:ext cx="5257800" cy="548640"/>
          </a:xfrm>
          <a:prstGeom prst="rect">
            <a:avLst/>
          </a:prstGeom>
          <a:noFill/>
          <a:ln/>
        </p:spPr>
        <p:txBody>
          <a:bodyPr wrap="square" lIns="0" tIns="0" rIns="0" bIns="0" rtlCol="0" anchor="t"/>
          <a:lstStyle/>
          <a:p>
            <a:pPr algn="l" indent="0" marL="0">
              <a:buNone/>
            </a:pPr>
            <a:r>
              <a:rPr lang="en-US" sz="1200" dirty="0">
                <a:solidFill>
                  <a:srgbClr val="4A5568"/>
                </a:solidFill>
              </a:rPr>
              <a:t>Enforces format &amp; size limits, mints presigned S3 URLs, tracks file state, exposes status polling.</a:t>
            </a:r>
            <a:endParaRPr lang="en-US" sz="1200" dirty="0"/>
          </a:p>
        </p:txBody>
      </p:sp>
      <p:sp>
        <p:nvSpPr>
          <p:cNvPr id="32" name="Text 30"/>
          <p:cNvSpPr txBox="1"/>
          <p:nvPr/>
        </p:nvSpPr>
        <p:spPr>
          <a:xfrm>
            <a:off x="6217920" y="4297680"/>
            <a:ext cx="5257800" cy="320040"/>
          </a:xfrm>
          <a:prstGeom prst="rect">
            <a:avLst/>
          </a:prstGeom>
          <a:noFill/>
          <a:ln/>
        </p:spPr>
        <p:txBody>
          <a:bodyPr wrap="square" lIns="0" tIns="0" rIns="0" bIns="0" rtlCol="0" anchor="t"/>
          <a:lstStyle/>
          <a:p>
            <a:pPr algn="l" indent="0" marL="0">
              <a:buNone/>
            </a:pPr>
            <a:r>
              <a:rPr lang="en-US" sz="1450" b="1" dirty="0">
                <a:solidFill>
                  <a:srgbClr val="14213D"/>
                </a:solidFill>
              </a:rPr>
              <a:t>Security &amp; Malware Gate</a:t>
            </a:r>
            <a:endParaRPr lang="en-US" sz="1450" dirty="0"/>
          </a:p>
        </p:txBody>
      </p:sp>
      <p:sp>
        <p:nvSpPr>
          <p:cNvPr id="33" name="Text 31"/>
          <p:cNvSpPr txBox="1"/>
          <p:nvPr/>
        </p:nvSpPr>
        <p:spPr>
          <a:xfrm>
            <a:off x="6217920" y="4608576"/>
            <a:ext cx="5257800" cy="548640"/>
          </a:xfrm>
          <a:prstGeom prst="rect">
            <a:avLst/>
          </a:prstGeom>
          <a:noFill/>
          <a:ln/>
        </p:spPr>
        <p:txBody>
          <a:bodyPr wrap="square" lIns="0" tIns="0" rIns="0" bIns="0" rtlCol="0" anchor="t"/>
          <a:lstStyle/>
          <a:p>
            <a:pPr algn="l" indent="0" marL="0">
              <a:buNone/>
            </a:pPr>
            <a:r>
              <a:rPr lang="en-US" sz="1200" dirty="0">
                <a:solidFill>
                  <a:srgbClr val="4A5568"/>
                </a:solidFill>
              </a:rPr>
              <a:t>GuardDuty scan, magic-byte MIME check, password-protection — before any parsing.</a:t>
            </a:r>
            <a:endParaRPr lang="en-US" sz="1200" dirty="0"/>
          </a:p>
        </p:txBody>
      </p:sp>
      <p:sp>
        <p:nvSpPr>
          <p:cNvPr id="34" name="Text 32"/>
          <p:cNvSpPr txBox="1"/>
          <p:nvPr/>
        </p:nvSpPr>
        <p:spPr>
          <a:xfrm>
            <a:off x="640080" y="5257800"/>
            <a:ext cx="5257800" cy="320040"/>
          </a:xfrm>
          <a:prstGeom prst="rect">
            <a:avLst/>
          </a:prstGeom>
          <a:noFill/>
          <a:ln/>
        </p:spPr>
        <p:txBody>
          <a:bodyPr wrap="square" lIns="0" tIns="0" rIns="0" bIns="0" rtlCol="0" anchor="t"/>
          <a:lstStyle/>
          <a:p>
            <a:pPr algn="l" indent="0" marL="0">
              <a:buNone/>
            </a:pPr>
            <a:r>
              <a:rPr lang="en-US" sz="1450" b="1" dirty="0">
                <a:solidFill>
                  <a:srgbClr val="14213D"/>
                </a:solidFill>
              </a:rPr>
              <a:t>Normalizer &amp; Chunker</a:t>
            </a:r>
            <a:endParaRPr lang="en-US" sz="1450" dirty="0"/>
          </a:p>
        </p:txBody>
      </p:sp>
      <p:sp>
        <p:nvSpPr>
          <p:cNvPr id="35" name="Text 33"/>
          <p:cNvSpPr txBox="1"/>
          <p:nvPr/>
        </p:nvSpPr>
        <p:spPr>
          <a:xfrm>
            <a:off x="640080" y="5568696"/>
            <a:ext cx="5257800" cy="548640"/>
          </a:xfrm>
          <a:prstGeom prst="rect">
            <a:avLst/>
          </a:prstGeom>
          <a:noFill/>
          <a:ln/>
        </p:spPr>
        <p:txBody>
          <a:bodyPr wrap="square" lIns="0" tIns="0" rIns="0" bIns="0" rtlCol="0" anchor="t"/>
          <a:lstStyle/>
          <a:p>
            <a:pPr algn="l" indent="0" marL="0">
              <a:buNone/>
            </a:pPr>
            <a:r>
              <a:rPr lang="en-US" sz="1200" dirty="0">
                <a:solidFill>
                  <a:srgbClr val="4A5568"/>
                </a:solidFill>
              </a:rPr>
              <a:t>Converts raw BDA JSON into LLM-ready markdown and chunks it to the prompt token budget.</a:t>
            </a:r>
            <a:endParaRPr lang="en-US" sz="1200" dirty="0"/>
          </a:p>
        </p:txBody>
      </p:sp>
      <p:sp>
        <p:nvSpPr>
          <p:cNvPr id="36" name="Text 34"/>
          <p:cNvSpPr txBox="1"/>
          <p:nvPr/>
        </p:nvSpPr>
        <p:spPr>
          <a:xfrm>
            <a:off x="6217920" y="5257800"/>
            <a:ext cx="5257800" cy="320040"/>
          </a:xfrm>
          <a:prstGeom prst="rect">
            <a:avLst/>
          </a:prstGeom>
          <a:noFill/>
          <a:ln/>
        </p:spPr>
        <p:txBody>
          <a:bodyPr wrap="square" lIns="0" tIns="0" rIns="0" bIns="0" rtlCol="0" anchor="t"/>
          <a:lstStyle/>
          <a:p>
            <a:pPr algn="l" indent="0" marL="0">
              <a:buNone/>
            </a:pPr>
            <a:r>
              <a:rPr lang="en-US" sz="1450" b="1" dirty="0">
                <a:solidFill>
                  <a:srgbClr val="14213D"/>
                </a:solidFill>
              </a:rPr>
              <a:t>AgentCore context tool</a:t>
            </a:r>
            <a:endParaRPr lang="en-US" sz="1450" dirty="0"/>
          </a:p>
        </p:txBody>
      </p:sp>
      <p:sp>
        <p:nvSpPr>
          <p:cNvPr id="37" name="Text 35"/>
          <p:cNvSpPr txBox="1"/>
          <p:nvPr/>
        </p:nvSpPr>
        <p:spPr>
          <a:xfrm>
            <a:off x="6217920" y="5568696"/>
            <a:ext cx="5257800" cy="548640"/>
          </a:xfrm>
          <a:prstGeom prst="rect">
            <a:avLst/>
          </a:prstGeom>
          <a:noFill/>
          <a:ln/>
        </p:spPr>
        <p:txBody>
          <a:bodyPr wrap="square" lIns="0" tIns="0" rIns="0" bIns="0" rtlCol="0" anchor="t"/>
          <a:lstStyle/>
          <a:p>
            <a:pPr algn="l" indent="0" marL="0">
              <a:buNone/>
            </a:pPr>
            <a:r>
              <a:rPr lang="en-US" sz="1200" dirty="0">
                <a:solidFill>
                  <a:srgbClr val="4A5568"/>
                </a:solidFill>
              </a:rPr>
              <a:t>Exposes MCP tools so the agent retrieves parsed context by actor / session / file id.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ph idx="100" type="body" hasCustomPrompt="1"/>
          </p:nvPr>
        </p:nvSpPr>
        <p:spPr>
          <a:xfrm>
            <a:off x="640080" y="457200"/>
            <a:ext cx="10881360" cy="320040"/>
          </a:xfrm>
          <a:prstGeom prst="rect">
            <a:avLst/>
          </a:prstGeom>
          <a:noFill/>
          <a:ln/>
        </p:spPr>
        <p:txBody>
          <a:bodyPr wrap="square" lIns="0" tIns="0" rIns="0" bIns="0" rtlCol="0" anchor="t"/>
          <a:lstStyle/>
          <a:p>
            <a:pPr algn="l" indent="0" marL="0">
              <a:buNone/>
            </a:pPr>
            <a:r>
              <a:rPr lang="en-US" sz="1300" b="1" spc="200" kern="0" dirty="0">
                <a:solidFill>
                  <a:srgbClr val="2563EB"/>
                </a:solidFill>
                <a:latin typeface="Consolas" pitchFamily="34" charset="0"/>
                <a:ea typeface="Consolas" pitchFamily="34" charset="-122"/>
                <a:cs typeface="Consolas" pitchFamily="34" charset="-120"/>
              </a:rPr>
              <a:t>CORE DATA FLOWS</a:t>
            </a:r>
            <a:endParaRPr lang="en-US" sz="1300" dirty="0"/>
          </a:p>
        </p:txBody>
      </p:sp>
      <p:sp>
        <p:nvSpPr>
          <p:cNvPr id="3" name="Text 0"/>
          <p:cNvSpPr txBox="1"/>
          <p:nvPr>
            <p:ph idx="101" type="title" hasCustomPrompt="1"/>
          </p:nvPr>
        </p:nvSpPr>
        <p:spPr>
          <a:xfrm>
            <a:off x="640080" y="777240"/>
            <a:ext cx="10881360" cy="868680"/>
          </a:xfrm>
          <a:prstGeom prst="rect">
            <a:avLst/>
          </a:prstGeom>
          <a:noFill/>
          <a:ln/>
        </p:spPr>
        <p:txBody>
          <a:bodyPr wrap="square" lIns="0" tIns="0" rIns="0" bIns="0" rtlCol="0" anchor="t"/>
          <a:lstStyle/>
          <a:p>
            <a:pPr algn="l" indent="0" marL="0">
              <a:buNone/>
            </a:pPr>
            <a:r>
              <a:rPr lang="en-US" sz="3200" b="1" dirty="0">
                <a:solidFill>
                  <a:srgbClr val="14213D"/>
                </a:solidFill>
                <a:latin typeface="Calibri" pitchFamily="34" charset="0"/>
                <a:ea typeface="Calibri" pitchFamily="34" charset="-122"/>
                <a:cs typeface="Calibri" pitchFamily="34" charset="-120"/>
              </a:rPr>
              <a:t>Three paths: upload, processing, answer</a:t>
            </a:r>
            <a:endParaRPr lang="en-US" sz="3200" dirty="0"/>
          </a:p>
        </p:txBody>
      </p:sp>
      <p:sp>
        <p:nvSpPr>
          <p:cNvPr id="4" name="Shape 2"/>
          <p:cNvSpPr/>
          <p:nvPr/>
        </p:nvSpPr>
        <p:spPr>
          <a:xfrm>
            <a:off x="640080" y="1874520"/>
            <a:ext cx="3566160" cy="4160520"/>
          </a:xfrm>
          <a:prstGeom prst="roundRect">
            <a:avLst>
              <a:gd name="adj" fmla="val 2051"/>
            </a:avLst>
          </a:prstGeom>
          <a:solidFill>
            <a:srgbClr val="F4F6F8"/>
          </a:solidFill>
          <a:ln w="12700">
            <a:solidFill>
              <a:srgbClr val="E3E6E4"/>
            </a:solidFill>
            <a:prstDash val="solid"/>
          </a:ln>
        </p:spPr>
      </p:sp>
      <p:sp>
        <p:nvSpPr>
          <p:cNvPr id="5" name="Text 3"/>
          <p:cNvSpPr txBox="1"/>
          <p:nvPr/>
        </p:nvSpPr>
        <p:spPr>
          <a:xfrm>
            <a:off x="914400" y="2084832"/>
            <a:ext cx="548640" cy="502920"/>
          </a:xfrm>
          <a:prstGeom prst="rect">
            <a:avLst/>
          </a:prstGeom>
          <a:noFill/>
          <a:ln/>
        </p:spPr>
        <p:txBody>
          <a:bodyPr wrap="square" lIns="0" tIns="0" rIns="0" bIns="0" rtlCol="0" anchor="t"/>
          <a:lstStyle/>
          <a:p>
            <a:pPr algn="l" indent="0" marL="0">
              <a:buNone/>
            </a:pPr>
            <a:r>
              <a:rPr lang="en-US" sz="2600" b="1" dirty="0">
                <a:solidFill>
                  <a:srgbClr val="2563EB"/>
                </a:solidFill>
                <a:latin typeface="Consolas" pitchFamily="34" charset="0"/>
                <a:ea typeface="Consolas" pitchFamily="34" charset="-122"/>
                <a:cs typeface="Consolas" pitchFamily="34" charset="-120"/>
              </a:rPr>
              <a:t>1</a:t>
            </a:r>
            <a:endParaRPr lang="en-US" sz="2600" dirty="0"/>
          </a:p>
        </p:txBody>
      </p:sp>
      <p:sp>
        <p:nvSpPr>
          <p:cNvPr id="6" name="Text 4"/>
          <p:cNvSpPr txBox="1"/>
          <p:nvPr/>
        </p:nvSpPr>
        <p:spPr>
          <a:xfrm>
            <a:off x="1508760" y="2167128"/>
            <a:ext cx="2468880" cy="457200"/>
          </a:xfrm>
          <a:prstGeom prst="rect">
            <a:avLst/>
          </a:prstGeom>
          <a:noFill/>
          <a:ln/>
        </p:spPr>
        <p:txBody>
          <a:bodyPr wrap="square" lIns="0" tIns="0" rIns="0" bIns="0" rtlCol="0" anchor="t"/>
          <a:lstStyle/>
          <a:p>
            <a:pPr algn="l" indent="0" marL="0">
              <a:buNone/>
            </a:pPr>
            <a:r>
              <a:rPr lang="en-US" sz="1800" b="1" dirty="0">
                <a:solidFill>
                  <a:srgbClr val="14213D"/>
                </a:solidFill>
              </a:rPr>
              <a:t>Upload path</a:t>
            </a:r>
            <a:endParaRPr lang="en-US" sz="1800" dirty="0"/>
          </a:p>
        </p:txBody>
      </p:sp>
      <p:sp>
        <p:nvSpPr>
          <p:cNvPr id="7" name="Text 5"/>
          <p:cNvSpPr txBox="1"/>
          <p:nvPr/>
        </p:nvSpPr>
        <p:spPr>
          <a:xfrm>
            <a:off x="960120" y="2788920"/>
            <a:ext cx="2971800" cy="3108960"/>
          </a:xfrm>
          <a:prstGeom prst="rect">
            <a:avLst/>
          </a:prstGeom>
          <a:noFill/>
          <a:ln/>
        </p:spPr>
        <p:txBody>
          <a:bodyPr wrap="square" lIns="0" tIns="0" rIns="0" bIns="0" rtlCol="0" anchor="t"/>
          <a:lstStyle/>
          <a:p>
            <a:pPr algn="l" marL="177800" indent="-177800">
              <a:spcAft>
                <a:spcPts val="800"/>
              </a:spcAft>
              <a:buSzPct val="100000"/>
              <a:buChar char="•"/>
            </a:pPr>
            <a:r>
              <a:rPr lang="en-US" sz="1250" dirty="0">
                <a:solidFill>
                  <a:srgbClr val="4A5568"/>
                </a:solidFill>
              </a:rPr>
              <a:t>Client sends file metadata; API validates size/format, creates a tracking record, returns a presigned S3 URL.</a:t>
            </a:r>
            <a:endParaRPr lang="en-US" sz="1250" dirty="0"/>
          </a:p>
          <a:p>
            <a:pPr algn="l" marL="177800" indent="-177800">
              <a:spcAft>
                <a:spcPts val="800"/>
              </a:spcAft>
              <a:buSzPct val="100000"/>
              <a:buChar char="•"/>
            </a:pPr>
            <a:r>
              <a:rPr lang="en-US" sz="1250" dirty="0">
                <a:solidFill>
                  <a:srgbClr val="4A5568"/>
                </a:solidFill>
              </a:rPr>
              <a:t>Browser streams the binary directly to S3 — no compute holds the bytes.</a:t>
            </a:r>
            <a:endParaRPr lang="en-US" sz="1250" dirty="0"/>
          </a:p>
          <a:p>
            <a:pPr algn="l" marL="177800" indent="-177800">
              <a:spcAft>
                <a:spcPts val="800"/>
              </a:spcAft>
              <a:buSzPct val="100000"/>
              <a:buChar char="•"/>
            </a:pPr>
            <a:r>
              <a:rPr lang="en-US" sz="1250" dirty="0">
                <a:solidFill>
                  <a:srgbClr val="4A5568"/>
                </a:solidFill>
              </a:rPr>
              <a:t>On landing: GuardDuty scan, magic-byte check, password-protection — no gate skipped for latency.</a:t>
            </a:r>
            <a:endParaRPr lang="en-US" sz="1250" dirty="0"/>
          </a:p>
          <a:p>
            <a:pPr algn="l" marL="177800" indent="-177800">
              <a:spcAft>
                <a:spcPts val="800"/>
              </a:spcAft>
              <a:buSzPct val="100000"/>
              <a:buChar char="•"/>
            </a:pPr>
            <a:r>
              <a:rPr lang="en-US" sz="1250" dirty="0">
                <a:solidFill>
                  <a:srgbClr val="4A5568"/>
                </a:solidFill>
              </a:rPr>
              <a:t>PPT/PPTX converted to PDF after the gate, before BDA.</a:t>
            </a:r>
            <a:endParaRPr lang="en-US" sz="1250" dirty="0"/>
          </a:p>
        </p:txBody>
      </p:sp>
      <p:sp>
        <p:nvSpPr>
          <p:cNvPr id="8" name="Shape 6"/>
          <p:cNvSpPr/>
          <p:nvPr/>
        </p:nvSpPr>
        <p:spPr>
          <a:xfrm>
            <a:off x="4389120" y="1874520"/>
            <a:ext cx="3566160" cy="4160520"/>
          </a:xfrm>
          <a:prstGeom prst="roundRect">
            <a:avLst>
              <a:gd name="adj" fmla="val 2051"/>
            </a:avLst>
          </a:prstGeom>
          <a:solidFill>
            <a:srgbClr val="F4F6F8"/>
          </a:solidFill>
          <a:ln w="12700">
            <a:solidFill>
              <a:srgbClr val="E3E6E4"/>
            </a:solidFill>
            <a:prstDash val="solid"/>
          </a:ln>
        </p:spPr>
      </p:sp>
      <p:sp>
        <p:nvSpPr>
          <p:cNvPr id="9" name="Text 7"/>
          <p:cNvSpPr txBox="1"/>
          <p:nvPr/>
        </p:nvSpPr>
        <p:spPr>
          <a:xfrm>
            <a:off x="4663440" y="2084832"/>
            <a:ext cx="548640" cy="502920"/>
          </a:xfrm>
          <a:prstGeom prst="rect">
            <a:avLst/>
          </a:prstGeom>
          <a:noFill/>
          <a:ln/>
        </p:spPr>
        <p:txBody>
          <a:bodyPr wrap="square" lIns="0" tIns="0" rIns="0" bIns="0" rtlCol="0" anchor="t"/>
          <a:lstStyle/>
          <a:p>
            <a:pPr algn="l" indent="0" marL="0">
              <a:buNone/>
            </a:pPr>
            <a:r>
              <a:rPr lang="en-US" sz="2600" b="1" dirty="0">
                <a:solidFill>
                  <a:srgbClr val="1E3A8A"/>
                </a:solidFill>
                <a:latin typeface="Consolas" pitchFamily="34" charset="0"/>
                <a:ea typeface="Consolas" pitchFamily="34" charset="-122"/>
                <a:cs typeface="Consolas" pitchFamily="34" charset="-120"/>
              </a:rPr>
              <a:t>2</a:t>
            </a:r>
            <a:endParaRPr lang="en-US" sz="2600" dirty="0"/>
          </a:p>
        </p:txBody>
      </p:sp>
      <p:sp>
        <p:nvSpPr>
          <p:cNvPr id="10" name="Text 8"/>
          <p:cNvSpPr txBox="1"/>
          <p:nvPr/>
        </p:nvSpPr>
        <p:spPr>
          <a:xfrm>
            <a:off x="5257800" y="2167128"/>
            <a:ext cx="2468880" cy="457200"/>
          </a:xfrm>
          <a:prstGeom prst="rect">
            <a:avLst/>
          </a:prstGeom>
          <a:noFill/>
          <a:ln/>
        </p:spPr>
        <p:txBody>
          <a:bodyPr wrap="square" lIns="0" tIns="0" rIns="0" bIns="0" rtlCol="0" anchor="t"/>
          <a:lstStyle/>
          <a:p>
            <a:pPr algn="l" indent="0" marL="0">
              <a:buNone/>
            </a:pPr>
            <a:r>
              <a:rPr lang="en-US" sz="1800" b="1" dirty="0">
                <a:solidFill>
                  <a:srgbClr val="14213D"/>
                </a:solidFill>
              </a:rPr>
              <a:t>Processing path</a:t>
            </a:r>
            <a:endParaRPr lang="en-US" sz="1800" dirty="0"/>
          </a:p>
        </p:txBody>
      </p:sp>
      <p:sp>
        <p:nvSpPr>
          <p:cNvPr id="11" name="Text 9"/>
          <p:cNvSpPr txBox="1"/>
          <p:nvPr/>
        </p:nvSpPr>
        <p:spPr>
          <a:xfrm>
            <a:off x="4709160" y="2788920"/>
            <a:ext cx="2971800" cy="3108960"/>
          </a:xfrm>
          <a:prstGeom prst="rect">
            <a:avLst/>
          </a:prstGeom>
          <a:noFill/>
          <a:ln/>
        </p:spPr>
        <p:txBody>
          <a:bodyPr wrap="square" lIns="0" tIns="0" rIns="0" bIns="0" rtlCol="0" anchor="t"/>
          <a:lstStyle/>
          <a:p>
            <a:pPr algn="l" marL="177800" indent="-177800">
              <a:spcAft>
                <a:spcPts val="800"/>
              </a:spcAft>
              <a:buSzPct val="100000"/>
              <a:buChar char="•"/>
            </a:pPr>
            <a:r>
              <a:rPr lang="en-US" sz="1250" dirty="0">
                <a:solidFill>
                  <a:srgbClr val="4A5568"/>
                </a:solidFill>
              </a:rPr>
              <a:t>Validated file dispatched async to BDA; ~10s P95 extraction, isolated from the conversation loop.</a:t>
            </a:r>
            <a:endParaRPr lang="en-US" sz="1250" dirty="0"/>
          </a:p>
          <a:p>
            <a:pPr algn="l" marL="177800" indent="-177800">
              <a:spcAft>
                <a:spcPts val="800"/>
              </a:spcAft>
              <a:buSzPct val="100000"/>
              <a:buChar char="•"/>
            </a:pPr>
            <a:r>
              <a:rPr lang="en-US" sz="1250" dirty="0">
                <a:solidFill>
                  <a:srgbClr val="4A5568"/>
                </a:solidFill>
              </a:rPr>
              <a:t>BDA parses reading-order text, tables, and visual elements; OCR on scanned pages.</a:t>
            </a:r>
            <a:endParaRPr lang="en-US" sz="1250" dirty="0"/>
          </a:p>
          <a:p>
            <a:pPr algn="l" marL="177800" indent="-177800">
              <a:spcAft>
                <a:spcPts val="800"/>
              </a:spcAft>
              <a:buSzPct val="100000"/>
              <a:buChar char="•"/>
            </a:pPr>
            <a:r>
              <a:rPr lang="en-US" sz="1250" dirty="0">
                <a:solidFill>
                  <a:srgbClr val="4A5568"/>
                </a:solidFill>
              </a:rPr>
              <a:t>Markdown output stored in chat history; each file resolves to its own chip in the UI.</a:t>
            </a:r>
            <a:endParaRPr lang="en-US" sz="1250" dirty="0"/>
          </a:p>
        </p:txBody>
      </p:sp>
      <p:sp>
        <p:nvSpPr>
          <p:cNvPr id="12" name="Shape 10"/>
          <p:cNvSpPr/>
          <p:nvPr/>
        </p:nvSpPr>
        <p:spPr>
          <a:xfrm>
            <a:off x="8138160" y="1874520"/>
            <a:ext cx="3566160" cy="4160520"/>
          </a:xfrm>
          <a:prstGeom prst="roundRect">
            <a:avLst>
              <a:gd name="adj" fmla="val 2051"/>
            </a:avLst>
          </a:prstGeom>
          <a:solidFill>
            <a:srgbClr val="F4F6F8"/>
          </a:solidFill>
          <a:ln w="12700">
            <a:solidFill>
              <a:srgbClr val="E3E6E4"/>
            </a:solidFill>
            <a:prstDash val="solid"/>
          </a:ln>
        </p:spPr>
      </p:sp>
      <p:sp>
        <p:nvSpPr>
          <p:cNvPr id="13" name="Text 11"/>
          <p:cNvSpPr txBox="1"/>
          <p:nvPr/>
        </p:nvSpPr>
        <p:spPr>
          <a:xfrm>
            <a:off x="8412480" y="2084832"/>
            <a:ext cx="548640" cy="502920"/>
          </a:xfrm>
          <a:prstGeom prst="rect">
            <a:avLst/>
          </a:prstGeom>
          <a:noFill/>
          <a:ln/>
        </p:spPr>
        <p:txBody>
          <a:bodyPr wrap="square" lIns="0" tIns="0" rIns="0" bIns="0" rtlCol="0" anchor="t"/>
          <a:lstStyle/>
          <a:p>
            <a:pPr algn="l" indent="0" marL="0">
              <a:buNone/>
            </a:pPr>
            <a:r>
              <a:rPr lang="en-US" sz="2600" b="1" dirty="0">
                <a:solidFill>
                  <a:srgbClr val="2563EB"/>
                </a:solidFill>
                <a:latin typeface="Consolas" pitchFamily="34" charset="0"/>
                <a:ea typeface="Consolas" pitchFamily="34" charset="-122"/>
                <a:cs typeface="Consolas" pitchFamily="34" charset="-120"/>
              </a:rPr>
              <a:t>3</a:t>
            </a:r>
            <a:endParaRPr lang="en-US" sz="2600" dirty="0"/>
          </a:p>
        </p:txBody>
      </p:sp>
      <p:sp>
        <p:nvSpPr>
          <p:cNvPr id="14" name="Text 12"/>
          <p:cNvSpPr txBox="1"/>
          <p:nvPr/>
        </p:nvSpPr>
        <p:spPr>
          <a:xfrm>
            <a:off x="9006840" y="2167128"/>
            <a:ext cx="2468880" cy="457200"/>
          </a:xfrm>
          <a:prstGeom prst="rect">
            <a:avLst/>
          </a:prstGeom>
          <a:noFill/>
          <a:ln/>
        </p:spPr>
        <p:txBody>
          <a:bodyPr wrap="square" lIns="0" tIns="0" rIns="0" bIns="0" rtlCol="0" anchor="t"/>
          <a:lstStyle/>
          <a:p>
            <a:pPr algn="l" indent="0" marL="0">
              <a:buNone/>
            </a:pPr>
            <a:r>
              <a:rPr lang="en-US" sz="1800" b="1" dirty="0">
                <a:solidFill>
                  <a:srgbClr val="14213D"/>
                </a:solidFill>
              </a:rPr>
              <a:t>Answer path</a:t>
            </a:r>
            <a:endParaRPr lang="en-US" sz="1800" dirty="0"/>
          </a:p>
        </p:txBody>
      </p:sp>
      <p:sp>
        <p:nvSpPr>
          <p:cNvPr id="15" name="Text 13"/>
          <p:cNvSpPr txBox="1"/>
          <p:nvPr/>
        </p:nvSpPr>
        <p:spPr>
          <a:xfrm>
            <a:off x="8458200" y="2788920"/>
            <a:ext cx="2971800" cy="3108960"/>
          </a:xfrm>
          <a:prstGeom prst="rect">
            <a:avLst/>
          </a:prstGeom>
          <a:noFill/>
          <a:ln/>
        </p:spPr>
        <p:txBody>
          <a:bodyPr wrap="square" lIns="0" tIns="0" rIns="0" bIns="0" rtlCol="0" anchor="t"/>
          <a:lstStyle/>
          <a:p>
            <a:pPr algn="l" marL="177800" indent="-177800">
              <a:spcAft>
                <a:spcPts val="800"/>
              </a:spcAft>
              <a:buSzPct val="100000"/>
              <a:buChar char="•"/>
            </a:pPr>
            <a:r>
              <a:rPr lang="en-US" sz="1250" dirty="0">
                <a:solidFill>
                  <a:srgbClr val="4A5568"/>
                </a:solidFill>
              </a:rPr>
              <a:t>Submit is disabled until all attachments resolve or are removed.</a:t>
            </a:r>
            <a:endParaRPr lang="en-US" sz="1250" dirty="0"/>
          </a:p>
          <a:p>
            <a:pPr algn="l" marL="177800" indent="-177800">
              <a:spcAft>
                <a:spcPts val="800"/>
              </a:spcAft>
              <a:buSzPct val="100000"/>
              <a:buChar char="•"/>
            </a:pPr>
            <a:r>
              <a:rPr lang="en-US" sz="1250" dirty="0">
                <a:solidFill>
                  <a:srgbClr val="4A5568"/>
                </a:solidFill>
              </a:rPr>
              <a:t>Convologic retrieves the parsed markdown and applies Gartner grounding to answer.</a:t>
            </a:r>
            <a:endParaRPr lang="en-US" sz="1250" dirty="0"/>
          </a:p>
          <a:p>
            <a:pPr algn="l" marL="177800" indent="-177800">
              <a:spcAft>
                <a:spcPts val="800"/>
              </a:spcAft>
              <a:buSzPct val="100000"/>
              <a:buChar char="•"/>
            </a:pPr>
            <a:r>
              <a:rPr lang="en-US" sz="1250" dirty="0">
                <a:solidFill>
                  <a:srgbClr val="4A5568"/>
                </a:solidFill>
              </a:rPr>
              <a:t>Document awareness persists only within the same thread.</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ph idx="100" type="body" hasCustomPrompt="1"/>
          </p:nvPr>
        </p:nvSpPr>
        <p:spPr>
          <a:xfrm>
            <a:off x="640080" y="457200"/>
            <a:ext cx="10881360" cy="320040"/>
          </a:xfrm>
          <a:prstGeom prst="rect">
            <a:avLst/>
          </a:prstGeom>
          <a:noFill/>
          <a:ln/>
        </p:spPr>
        <p:txBody>
          <a:bodyPr wrap="square" lIns="0" tIns="0" rIns="0" bIns="0" rtlCol="0" anchor="t"/>
          <a:lstStyle/>
          <a:p>
            <a:pPr algn="l" indent="0" marL="0">
              <a:buNone/>
            </a:pPr>
            <a:r>
              <a:rPr lang="en-US" sz="1300" b="1" spc="200" kern="0" dirty="0">
                <a:solidFill>
                  <a:srgbClr val="2563EB"/>
                </a:solidFill>
                <a:latin typeface="Consolas" pitchFamily="34" charset="0"/>
                <a:ea typeface="Consolas" pitchFamily="34" charset="-122"/>
                <a:cs typeface="Consolas" pitchFamily="34" charset="-120"/>
              </a:rPr>
              <a:t>ANSWER QUALITY &amp; RESILIENCE</a:t>
            </a:r>
            <a:endParaRPr lang="en-US" sz="1300" dirty="0"/>
          </a:p>
        </p:txBody>
      </p:sp>
      <p:sp>
        <p:nvSpPr>
          <p:cNvPr id="3" name="Text 0"/>
          <p:cNvSpPr txBox="1"/>
          <p:nvPr>
            <p:ph idx="101" type="title" hasCustomPrompt="1"/>
          </p:nvPr>
        </p:nvSpPr>
        <p:spPr>
          <a:xfrm>
            <a:off x="640080" y="777240"/>
            <a:ext cx="10881360" cy="868680"/>
          </a:xfrm>
          <a:prstGeom prst="rect">
            <a:avLst/>
          </a:prstGeom>
          <a:noFill/>
          <a:ln/>
        </p:spPr>
        <p:txBody>
          <a:bodyPr wrap="square" lIns="0" tIns="0" rIns="0" bIns="0" rtlCol="0" anchor="t"/>
          <a:lstStyle/>
          <a:p>
            <a:pPr algn="l" indent="0" marL="0">
              <a:buNone/>
            </a:pPr>
            <a:r>
              <a:rPr lang="en-US" sz="3200" b="1" dirty="0">
                <a:solidFill>
                  <a:srgbClr val="14213D"/>
                </a:solidFill>
                <a:latin typeface="Calibri" pitchFamily="34" charset="0"/>
                <a:ea typeface="Calibri" pitchFamily="34" charset="-122"/>
                <a:cs typeface="Calibri" pitchFamily="34" charset="-120"/>
              </a:rPr>
              <a:t>Grounding tiers, and failing loudly</a:t>
            </a:r>
            <a:endParaRPr lang="en-US" sz="3200" dirty="0"/>
          </a:p>
        </p:txBody>
      </p:sp>
      <p:sp>
        <p:nvSpPr>
          <p:cNvPr id="4" name="Shape 2"/>
          <p:cNvSpPr/>
          <p:nvPr/>
        </p:nvSpPr>
        <p:spPr>
          <a:xfrm>
            <a:off x="640080" y="1874520"/>
            <a:ext cx="5349240" cy="4160520"/>
          </a:xfrm>
          <a:prstGeom prst="roundRect">
            <a:avLst>
              <a:gd name="adj" fmla="val 1758"/>
            </a:avLst>
          </a:prstGeom>
          <a:solidFill>
            <a:srgbClr val="F4F6F8"/>
          </a:solidFill>
          <a:ln w="12700">
            <a:solidFill>
              <a:srgbClr val="E3E6E4"/>
            </a:solidFill>
            <a:prstDash val="solid"/>
          </a:ln>
        </p:spPr>
      </p:sp>
      <p:sp>
        <p:nvSpPr>
          <p:cNvPr id="5" name="Text 3"/>
          <p:cNvSpPr txBox="1"/>
          <p:nvPr/>
        </p:nvSpPr>
        <p:spPr>
          <a:xfrm>
            <a:off x="914400" y="2103120"/>
            <a:ext cx="4846320" cy="365760"/>
          </a:xfrm>
          <a:prstGeom prst="rect">
            <a:avLst/>
          </a:prstGeom>
          <a:noFill/>
          <a:ln/>
        </p:spPr>
        <p:txBody>
          <a:bodyPr wrap="square" lIns="0" tIns="0" rIns="0" bIns="0" rtlCol="0" anchor="t"/>
          <a:lstStyle/>
          <a:p>
            <a:pPr algn="l" indent="0" marL="0">
              <a:buNone/>
            </a:pPr>
            <a:r>
              <a:rPr lang="en-US" sz="1700" b="1" dirty="0">
                <a:solidFill>
                  <a:srgbClr val="14213D"/>
                </a:solidFill>
              </a:rPr>
              <a:t>Grounding tiers decide the response</a:t>
            </a:r>
            <a:endParaRPr lang="en-US" sz="1700" dirty="0"/>
          </a:p>
        </p:txBody>
      </p:sp>
      <p:sp>
        <p:nvSpPr>
          <p:cNvPr id="6" name="Text 4"/>
          <p:cNvSpPr txBox="1"/>
          <p:nvPr/>
        </p:nvSpPr>
        <p:spPr>
          <a:xfrm>
            <a:off x="914400" y="2606040"/>
            <a:ext cx="685800" cy="457200"/>
          </a:xfrm>
          <a:prstGeom prst="rect">
            <a:avLst/>
          </a:prstGeom>
          <a:noFill/>
          <a:ln/>
        </p:spPr>
        <p:txBody>
          <a:bodyPr wrap="square" lIns="0" tIns="0" rIns="0" bIns="0" rtlCol="0" anchor="t"/>
          <a:lstStyle/>
          <a:p>
            <a:pPr algn="l" indent="0" marL="0">
              <a:buNone/>
            </a:pPr>
            <a:r>
              <a:rPr lang="en-US" sz="2000" b="1" dirty="0">
                <a:solidFill>
                  <a:srgbClr val="2563EB"/>
                </a:solidFill>
                <a:latin typeface="Consolas" pitchFamily="34" charset="0"/>
                <a:ea typeface="Consolas" pitchFamily="34" charset="-122"/>
                <a:cs typeface="Consolas" pitchFamily="34" charset="-120"/>
              </a:rPr>
              <a:t>T1</a:t>
            </a:r>
            <a:endParaRPr lang="en-US" sz="2000" dirty="0"/>
          </a:p>
        </p:txBody>
      </p:sp>
      <p:sp>
        <p:nvSpPr>
          <p:cNvPr id="7" name="Text 5"/>
          <p:cNvSpPr txBox="1"/>
          <p:nvPr/>
        </p:nvSpPr>
        <p:spPr>
          <a:xfrm>
            <a:off x="1645920" y="2642616"/>
            <a:ext cx="4114800" cy="914400"/>
          </a:xfrm>
          <a:prstGeom prst="rect">
            <a:avLst/>
          </a:prstGeom>
          <a:noFill/>
          <a:ln/>
        </p:spPr>
        <p:txBody>
          <a:bodyPr wrap="square" lIns="0" tIns="0" rIns="0" bIns="0" rtlCol="0" anchor="t"/>
          <a:lstStyle/>
          <a:p>
            <a:pPr algn="l" indent="0" marL="0">
              <a:buNone/>
            </a:pPr>
            <a:r>
              <a:rPr lang="en-US" sz="1350" dirty="0">
                <a:solidFill>
                  <a:srgbClr val="4A5568"/>
                </a:solidFill>
              </a:rPr>
              <a:t>Full structured review with sources — strong Gartner coverage plus the user's document.</a:t>
            </a:r>
            <a:endParaRPr lang="en-US" sz="1350" dirty="0"/>
          </a:p>
        </p:txBody>
      </p:sp>
      <p:sp>
        <p:nvSpPr>
          <p:cNvPr id="8" name="Text 6"/>
          <p:cNvSpPr txBox="1"/>
          <p:nvPr/>
        </p:nvSpPr>
        <p:spPr>
          <a:xfrm>
            <a:off x="914400" y="3685032"/>
            <a:ext cx="685800" cy="457200"/>
          </a:xfrm>
          <a:prstGeom prst="rect">
            <a:avLst/>
          </a:prstGeom>
          <a:noFill/>
          <a:ln/>
        </p:spPr>
        <p:txBody>
          <a:bodyPr wrap="square" lIns="0" tIns="0" rIns="0" bIns="0" rtlCol="0" anchor="t"/>
          <a:lstStyle/>
          <a:p>
            <a:pPr algn="l" indent="0" marL="0">
              <a:buNone/>
            </a:pPr>
            <a:r>
              <a:rPr lang="en-US" sz="2000" b="1" dirty="0">
                <a:solidFill>
                  <a:srgbClr val="2563EB"/>
                </a:solidFill>
                <a:latin typeface="Consolas" pitchFamily="34" charset="0"/>
                <a:ea typeface="Consolas" pitchFamily="34" charset="-122"/>
                <a:cs typeface="Consolas" pitchFamily="34" charset="-120"/>
              </a:rPr>
              <a:t>T2</a:t>
            </a:r>
            <a:endParaRPr lang="en-US" sz="2000" dirty="0"/>
          </a:p>
        </p:txBody>
      </p:sp>
      <p:sp>
        <p:nvSpPr>
          <p:cNvPr id="9" name="Text 7"/>
          <p:cNvSpPr txBox="1"/>
          <p:nvPr/>
        </p:nvSpPr>
        <p:spPr>
          <a:xfrm>
            <a:off x="1645920" y="3721608"/>
            <a:ext cx="4114800" cy="914400"/>
          </a:xfrm>
          <a:prstGeom prst="rect">
            <a:avLst/>
          </a:prstGeom>
          <a:noFill/>
          <a:ln/>
        </p:spPr>
        <p:txBody>
          <a:bodyPr wrap="square" lIns="0" tIns="0" rIns="0" bIns="0" rtlCol="0" anchor="t"/>
          <a:lstStyle/>
          <a:p>
            <a:pPr algn="l" indent="0" marL="0">
              <a:buNone/>
            </a:pPr>
            <a:r>
              <a:rPr lang="en-US" sz="1350" dirty="0">
                <a:solidFill>
                  <a:srgbClr val="4A5568"/>
                </a:solidFill>
              </a:rPr>
              <a:t>Thin or no written research coverage — answer with what exists, flagged.</a:t>
            </a:r>
            <a:endParaRPr lang="en-US" sz="1350" dirty="0"/>
          </a:p>
        </p:txBody>
      </p:sp>
      <p:sp>
        <p:nvSpPr>
          <p:cNvPr id="10" name="Text 8"/>
          <p:cNvSpPr txBox="1"/>
          <p:nvPr/>
        </p:nvSpPr>
        <p:spPr>
          <a:xfrm>
            <a:off x="914400" y="4764024"/>
            <a:ext cx="685800" cy="457200"/>
          </a:xfrm>
          <a:prstGeom prst="rect">
            <a:avLst/>
          </a:prstGeom>
          <a:noFill/>
          <a:ln/>
        </p:spPr>
        <p:txBody>
          <a:bodyPr wrap="square" lIns="0" tIns="0" rIns="0" bIns="0" rtlCol="0" anchor="t"/>
          <a:lstStyle/>
          <a:p>
            <a:pPr algn="l" indent="0" marL="0">
              <a:buNone/>
            </a:pPr>
            <a:r>
              <a:rPr lang="en-US" sz="2000" b="1" dirty="0">
                <a:solidFill>
                  <a:srgbClr val="2563EB"/>
                </a:solidFill>
                <a:latin typeface="Consolas" pitchFamily="34" charset="0"/>
                <a:ea typeface="Consolas" pitchFamily="34" charset="-122"/>
                <a:cs typeface="Consolas" pitchFamily="34" charset="-120"/>
              </a:rPr>
              <a:t>T3</a:t>
            </a:r>
            <a:endParaRPr lang="en-US" sz="2000" dirty="0"/>
          </a:p>
        </p:txBody>
      </p:sp>
      <p:sp>
        <p:nvSpPr>
          <p:cNvPr id="11" name="Text 9"/>
          <p:cNvSpPr txBox="1"/>
          <p:nvPr/>
        </p:nvSpPr>
        <p:spPr>
          <a:xfrm>
            <a:off x="1645920" y="4800600"/>
            <a:ext cx="4114800" cy="914400"/>
          </a:xfrm>
          <a:prstGeom prst="rect">
            <a:avLst/>
          </a:prstGeom>
          <a:noFill/>
          <a:ln/>
        </p:spPr>
        <p:txBody>
          <a:bodyPr wrap="square" lIns="0" tIns="0" rIns="0" bIns="0" rtlCol="0" anchor="t"/>
          <a:lstStyle/>
          <a:p>
            <a:pPr algn="l" indent="0" marL="0">
              <a:buNone/>
            </a:pPr>
            <a:r>
              <a:rPr lang="en-US" sz="1350" dirty="0">
                <a:solidFill>
                  <a:srgbClr val="4A5568"/>
                </a:solidFill>
              </a:rPr>
              <a:t>Unsupported use case — route to an analyst, carrying session context and attachments through.</a:t>
            </a:r>
            <a:endParaRPr lang="en-US" sz="1350" dirty="0"/>
          </a:p>
        </p:txBody>
      </p:sp>
      <p:sp>
        <p:nvSpPr>
          <p:cNvPr id="12" name="Shape 10"/>
          <p:cNvSpPr/>
          <p:nvPr/>
        </p:nvSpPr>
        <p:spPr>
          <a:xfrm>
            <a:off x="6172200" y="1874520"/>
            <a:ext cx="5349240" cy="4160520"/>
          </a:xfrm>
          <a:prstGeom prst="roundRect">
            <a:avLst>
              <a:gd name="adj" fmla="val 1758"/>
            </a:avLst>
          </a:prstGeom>
          <a:solidFill>
            <a:srgbClr val="DBEAFE"/>
          </a:solidFill>
          <a:ln/>
        </p:spPr>
      </p:sp>
      <p:sp>
        <p:nvSpPr>
          <p:cNvPr id="13" name="Text 11"/>
          <p:cNvSpPr txBox="1"/>
          <p:nvPr/>
        </p:nvSpPr>
        <p:spPr>
          <a:xfrm>
            <a:off x="6446520" y="2103120"/>
            <a:ext cx="4846320" cy="365760"/>
          </a:xfrm>
          <a:prstGeom prst="rect">
            <a:avLst/>
          </a:prstGeom>
          <a:noFill/>
          <a:ln/>
        </p:spPr>
        <p:txBody>
          <a:bodyPr wrap="square" lIns="0" tIns="0" rIns="0" bIns="0" rtlCol="0" anchor="t"/>
          <a:lstStyle/>
          <a:p>
            <a:pPr algn="l" indent="0" marL="0">
              <a:buNone/>
            </a:pPr>
            <a:r>
              <a:rPr lang="en-US" sz="1700" b="1" dirty="0">
                <a:solidFill>
                  <a:srgbClr val="14213D"/>
                </a:solidFill>
              </a:rPr>
              <a:t>Fails loudly, never hangs the thread</a:t>
            </a:r>
            <a:endParaRPr lang="en-US" sz="1700" dirty="0"/>
          </a:p>
        </p:txBody>
      </p:sp>
      <p:sp>
        <p:nvSpPr>
          <p:cNvPr id="14" name="Text 12"/>
          <p:cNvSpPr txBox="1"/>
          <p:nvPr/>
        </p:nvSpPr>
        <p:spPr>
          <a:xfrm>
            <a:off x="6492240" y="2606040"/>
            <a:ext cx="4754880" cy="3291840"/>
          </a:xfrm>
          <a:prstGeom prst="rect">
            <a:avLst/>
          </a:prstGeom>
          <a:noFill/>
          <a:ln/>
        </p:spPr>
        <p:txBody>
          <a:bodyPr wrap="square" lIns="0" tIns="0" rIns="0" bIns="0" rtlCol="0" anchor="t"/>
          <a:lstStyle/>
          <a:p>
            <a:pPr algn="l" marL="177800" indent="-177800">
              <a:spcAft>
                <a:spcPts val="1100"/>
              </a:spcAft>
              <a:buSzPct val="100000"/>
              <a:buChar char="•"/>
            </a:pPr>
            <a:r>
              <a:rPr lang="en-US" sz="1300" dirty="0">
                <a:solidFill>
                  <a:srgbClr val="14213D"/>
                </a:solidFill>
              </a:rPr>
              <a:t>Invalid, oversized (&gt;15 MB), &gt;2 files/turn, magic-byte mismatch, password-protected, or corrupt → rejected immediately with an actionable error.</a:t>
            </a:r>
            <a:endParaRPr lang="en-US" sz="1300" dirty="0"/>
          </a:p>
          <a:p>
            <a:pPr algn="l" marL="177800" indent="-177800">
              <a:spcAft>
                <a:spcPts val="1100"/>
              </a:spcAft>
              <a:buSzPct val="100000"/>
              <a:buChar char="•"/>
            </a:pPr>
            <a:r>
              <a:rPr lang="en-US" sz="1300" dirty="0">
                <a:solidFill>
                  <a:srgbClr val="14213D"/>
                </a:solidFill>
              </a:rPr>
              <a:t>GuardDuty blocks any infected object from being processed; the user is told the file was rejected.</a:t>
            </a:r>
            <a:endParaRPr lang="en-US" sz="1300" dirty="0"/>
          </a:p>
          <a:p>
            <a:pPr algn="l" marL="177800" indent="-177800">
              <a:spcAft>
                <a:spcPts val="1100"/>
              </a:spcAft>
              <a:buSzPct val="100000"/>
              <a:buChar char="•"/>
            </a:pPr>
            <a:r>
              <a:rPr lang="en-US" sz="1300" dirty="0">
                <a:solidFill>
                  <a:srgbClr val="14213D"/>
                </a:solidFill>
              </a:rPr>
              <a:t>Extraction over 2× target latency → marked failed, user asked to re-upload rather than watch a spinner.</a:t>
            </a:r>
            <a:endParaRPr lang="en-US" sz="1300" dirty="0"/>
          </a:p>
          <a:p>
            <a:pPr algn="l" marL="177800" indent="-177800">
              <a:spcAft>
                <a:spcPts val="1100"/>
              </a:spcAft>
              <a:buSzPct val="100000"/>
              <a:buChar char="•"/>
            </a:pPr>
            <a:r>
              <a:rPr lang="en-US" sz="1300" dirty="0">
                <a:solidFill>
                  <a:srgbClr val="14213D"/>
                </a:solidFill>
              </a:rPr>
              <a:t>Fails after the question is in flight → the conversation recovers: answer without it, or ask to re-attach.</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ph idx="100" type="body" hasCustomPrompt="1"/>
          </p:nvPr>
        </p:nvSpPr>
        <p:spPr>
          <a:xfrm>
            <a:off x="640080" y="457200"/>
            <a:ext cx="10881360" cy="320040"/>
          </a:xfrm>
          <a:prstGeom prst="rect">
            <a:avLst/>
          </a:prstGeom>
          <a:noFill/>
          <a:ln/>
        </p:spPr>
        <p:txBody>
          <a:bodyPr wrap="square" lIns="0" tIns="0" rIns="0" bIns="0" rtlCol="0" anchor="t"/>
          <a:lstStyle/>
          <a:p>
            <a:pPr algn="l" indent="0" marL="0">
              <a:buNone/>
            </a:pPr>
            <a:r>
              <a:rPr lang="en-US" sz="1300" b="1" spc="200" kern="0" dirty="0">
                <a:solidFill>
                  <a:srgbClr val="2563EB"/>
                </a:solidFill>
                <a:latin typeface="Consolas" pitchFamily="34" charset="0"/>
                <a:ea typeface="Consolas" pitchFamily="34" charset="-122"/>
                <a:cs typeface="Consolas" pitchFamily="34" charset="-120"/>
              </a:rPr>
              <a:t>DATA MANAGEMENT &amp; GOVERNANCE</a:t>
            </a:r>
            <a:endParaRPr lang="en-US" sz="1300" dirty="0"/>
          </a:p>
        </p:txBody>
      </p:sp>
      <p:sp>
        <p:nvSpPr>
          <p:cNvPr id="3" name="Text 0"/>
          <p:cNvSpPr txBox="1"/>
          <p:nvPr>
            <p:ph idx="101" type="title" hasCustomPrompt="1"/>
          </p:nvPr>
        </p:nvSpPr>
        <p:spPr>
          <a:xfrm>
            <a:off x="640080" y="777240"/>
            <a:ext cx="10881360" cy="868680"/>
          </a:xfrm>
          <a:prstGeom prst="rect">
            <a:avLst/>
          </a:prstGeom>
          <a:noFill/>
          <a:ln/>
        </p:spPr>
        <p:txBody>
          <a:bodyPr wrap="square" lIns="0" tIns="0" rIns="0" bIns="0" rtlCol="0" anchor="t"/>
          <a:lstStyle/>
          <a:p>
            <a:pPr algn="l" indent="0" marL="0">
              <a:buNone/>
            </a:pPr>
            <a:r>
              <a:rPr lang="en-US" sz="3200" b="1" dirty="0">
                <a:solidFill>
                  <a:srgbClr val="14213D"/>
                </a:solidFill>
                <a:latin typeface="Calibri" pitchFamily="34" charset="0"/>
                <a:ea typeface="Calibri" pitchFamily="34" charset="-122"/>
                <a:cs typeface="Calibri" pitchFamily="34" charset="-120"/>
              </a:rPr>
              <a:t>Session-scoped, ephemeral, isolated</a:t>
            </a:r>
            <a:endParaRPr lang="en-US" sz="3200" dirty="0"/>
          </a:p>
        </p:txBody>
      </p:sp>
      <p:sp>
        <p:nvSpPr>
          <p:cNvPr id="4" name="Shape 2"/>
          <p:cNvSpPr/>
          <p:nvPr/>
        </p:nvSpPr>
        <p:spPr>
          <a:xfrm>
            <a:off x="640080" y="1874520"/>
            <a:ext cx="10881360" cy="457200"/>
          </a:xfrm>
          <a:prstGeom prst="roundRect">
            <a:avLst>
              <a:gd name="adj" fmla="val 16000"/>
            </a:avLst>
          </a:prstGeom>
          <a:solidFill>
            <a:srgbClr val="14213D"/>
          </a:solidFill>
          <a:ln/>
        </p:spPr>
      </p:sp>
      <p:sp>
        <p:nvSpPr>
          <p:cNvPr id="5" name="Text 3"/>
          <p:cNvSpPr txBox="1"/>
          <p:nvPr/>
        </p:nvSpPr>
        <p:spPr>
          <a:xfrm>
            <a:off x="777240" y="1984248"/>
            <a:ext cx="2651760" cy="274320"/>
          </a:xfrm>
          <a:prstGeom prst="rect">
            <a:avLst/>
          </a:prstGeom>
          <a:noFill/>
          <a:ln/>
        </p:spPr>
        <p:txBody>
          <a:bodyPr wrap="square" lIns="0" tIns="0" rIns="0" bIns="0" rtlCol="0" anchor="t"/>
          <a:lstStyle/>
          <a:p>
            <a:pPr algn="l" indent="0" marL="0">
              <a:buNone/>
            </a:pPr>
            <a:r>
              <a:rPr lang="en-US" sz="1350" b="1" dirty="0">
                <a:solidFill>
                  <a:srgbClr val="FFFFFF"/>
                </a:solidFill>
              </a:rPr>
              <a:t>Data artifact</a:t>
            </a:r>
            <a:endParaRPr lang="en-US" sz="1350" dirty="0"/>
          </a:p>
        </p:txBody>
      </p:sp>
      <p:sp>
        <p:nvSpPr>
          <p:cNvPr id="6" name="Text 4"/>
          <p:cNvSpPr txBox="1"/>
          <p:nvPr/>
        </p:nvSpPr>
        <p:spPr>
          <a:xfrm>
            <a:off x="3611880" y="1984248"/>
            <a:ext cx="2194560" cy="274320"/>
          </a:xfrm>
          <a:prstGeom prst="rect">
            <a:avLst/>
          </a:prstGeom>
          <a:noFill/>
          <a:ln/>
        </p:spPr>
        <p:txBody>
          <a:bodyPr wrap="square" lIns="0" tIns="0" rIns="0" bIns="0" rtlCol="0" anchor="t"/>
          <a:lstStyle/>
          <a:p>
            <a:pPr algn="l" indent="0" marL="0">
              <a:buNone/>
            </a:pPr>
            <a:r>
              <a:rPr lang="en-US" sz="1350" b="1" dirty="0">
                <a:solidFill>
                  <a:srgbClr val="FFFFFF"/>
                </a:solidFill>
              </a:rPr>
              <a:t>Where it lives</a:t>
            </a:r>
            <a:endParaRPr lang="en-US" sz="1350" dirty="0"/>
          </a:p>
        </p:txBody>
      </p:sp>
      <p:sp>
        <p:nvSpPr>
          <p:cNvPr id="7" name="Text 5"/>
          <p:cNvSpPr txBox="1"/>
          <p:nvPr/>
        </p:nvSpPr>
        <p:spPr>
          <a:xfrm>
            <a:off x="5989320" y="1984248"/>
            <a:ext cx="3474720" cy="274320"/>
          </a:xfrm>
          <a:prstGeom prst="rect">
            <a:avLst/>
          </a:prstGeom>
          <a:noFill/>
          <a:ln/>
        </p:spPr>
        <p:txBody>
          <a:bodyPr wrap="square" lIns="0" tIns="0" rIns="0" bIns="0" rtlCol="0" anchor="t"/>
          <a:lstStyle/>
          <a:p>
            <a:pPr algn="l" indent="0" marL="0">
              <a:buNone/>
            </a:pPr>
            <a:r>
              <a:rPr lang="en-US" sz="1350" b="1" dirty="0">
                <a:solidFill>
                  <a:srgbClr val="FFFFFF"/>
                </a:solidFill>
              </a:rPr>
              <a:t>Scope / key</a:t>
            </a:r>
            <a:endParaRPr lang="en-US" sz="1350" dirty="0"/>
          </a:p>
        </p:txBody>
      </p:sp>
      <p:sp>
        <p:nvSpPr>
          <p:cNvPr id="8" name="Text 6"/>
          <p:cNvSpPr txBox="1"/>
          <p:nvPr/>
        </p:nvSpPr>
        <p:spPr>
          <a:xfrm>
            <a:off x="9646920" y="1984248"/>
            <a:ext cx="1828800" cy="274320"/>
          </a:xfrm>
          <a:prstGeom prst="rect">
            <a:avLst/>
          </a:prstGeom>
          <a:noFill/>
          <a:ln/>
        </p:spPr>
        <p:txBody>
          <a:bodyPr wrap="square" lIns="0" tIns="0" rIns="0" bIns="0" rtlCol="0" anchor="t"/>
          <a:lstStyle/>
          <a:p>
            <a:pPr algn="l" indent="0" marL="0">
              <a:buNone/>
            </a:pPr>
            <a:r>
              <a:rPr lang="en-US" sz="1350" b="1" dirty="0">
                <a:solidFill>
                  <a:srgbClr val="FFFFFF"/>
                </a:solidFill>
              </a:rPr>
              <a:t>Retention</a:t>
            </a:r>
            <a:endParaRPr lang="en-US" sz="1350" dirty="0"/>
          </a:p>
        </p:txBody>
      </p:sp>
      <p:sp>
        <p:nvSpPr>
          <p:cNvPr id="9" name="Shape 7"/>
          <p:cNvSpPr/>
          <p:nvPr/>
        </p:nvSpPr>
        <p:spPr>
          <a:xfrm>
            <a:off x="640080" y="2331720"/>
            <a:ext cx="10881360" cy="566928"/>
          </a:xfrm>
          <a:prstGeom prst="roundRect">
            <a:avLst>
              <a:gd name="adj" fmla="val 12903"/>
            </a:avLst>
          </a:prstGeom>
          <a:solidFill>
            <a:srgbClr val="FFFFFF"/>
          </a:solidFill>
          <a:ln w="12700">
            <a:solidFill>
              <a:srgbClr val="E3E6E4"/>
            </a:solidFill>
            <a:prstDash val="solid"/>
          </a:ln>
        </p:spPr>
      </p:sp>
      <p:sp>
        <p:nvSpPr>
          <p:cNvPr id="10" name="Text 8"/>
          <p:cNvSpPr txBox="1"/>
          <p:nvPr/>
        </p:nvSpPr>
        <p:spPr>
          <a:xfrm>
            <a:off x="777240" y="2496312"/>
            <a:ext cx="2651760" cy="274320"/>
          </a:xfrm>
          <a:prstGeom prst="rect">
            <a:avLst/>
          </a:prstGeom>
          <a:noFill/>
          <a:ln/>
        </p:spPr>
        <p:txBody>
          <a:bodyPr wrap="square" lIns="0" tIns="0" rIns="0" bIns="0" rtlCol="0" anchor="t"/>
          <a:lstStyle/>
          <a:p>
            <a:pPr algn="l" indent="0" marL="0">
              <a:buNone/>
            </a:pPr>
            <a:r>
              <a:rPr lang="en-US" sz="1350" b="1" dirty="0">
                <a:solidFill>
                  <a:srgbClr val="14213D"/>
                </a:solidFill>
                <a:latin typeface="Calibri" pitchFamily="34" charset="0"/>
                <a:ea typeface="Calibri" pitchFamily="34" charset="-122"/>
                <a:cs typeface="Calibri" pitchFamily="34" charset="-120"/>
              </a:rPr>
              <a:t>Raw file binary</a:t>
            </a:r>
            <a:endParaRPr lang="en-US" sz="1350" dirty="0"/>
          </a:p>
        </p:txBody>
      </p:sp>
      <p:sp>
        <p:nvSpPr>
          <p:cNvPr id="11" name="Text 9"/>
          <p:cNvSpPr txBox="1"/>
          <p:nvPr/>
        </p:nvSpPr>
        <p:spPr>
          <a:xfrm>
            <a:off x="3611880" y="2496312"/>
            <a:ext cx="2194560" cy="274320"/>
          </a:xfrm>
          <a:prstGeom prst="rect">
            <a:avLst/>
          </a:prstGeom>
          <a:noFill/>
          <a:ln/>
        </p:spPr>
        <p:txBody>
          <a:bodyPr wrap="square" lIns="0" tIns="0" rIns="0" bIns="0" rtlCol="0" anchor="t"/>
          <a:lstStyle/>
          <a:p>
            <a:pPr algn="l" indent="0" marL="0">
              <a:buNone/>
            </a:pPr>
            <a:r>
              <a:rPr lang="en-US" sz="1350" dirty="0">
                <a:solidFill>
                  <a:srgbClr val="4A5568"/>
                </a:solidFill>
                <a:latin typeface="Calibri" pitchFamily="34" charset="0"/>
                <a:ea typeface="Calibri" pitchFamily="34" charset="-122"/>
                <a:cs typeface="Calibri" pitchFamily="34" charset="-120"/>
              </a:rPr>
              <a:t>S3 raw landing</a:t>
            </a:r>
            <a:endParaRPr lang="en-US" sz="1350" dirty="0"/>
          </a:p>
        </p:txBody>
      </p:sp>
      <p:sp>
        <p:nvSpPr>
          <p:cNvPr id="12" name="Text 10"/>
          <p:cNvSpPr txBox="1"/>
          <p:nvPr/>
        </p:nvSpPr>
        <p:spPr>
          <a:xfrm>
            <a:off x="5989320" y="2496312"/>
            <a:ext cx="3474720" cy="274320"/>
          </a:xfrm>
          <a:prstGeom prst="rect">
            <a:avLst/>
          </a:prstGeom>
          <a:noFill/>
          <a:ln/>
        </p:spPr>
        <p:txBody>
          <a:bodyPr wrap="square" lIns="0" tIns="0" rIns="0" bIns="0" rtlCol="0" anchor="t"/>
          <a:lstStyle/>
          <a:p>
            <a:pPr algn="l" indent="0" marL="0">
              <a:buNone/>
            </a:pPr>
            <a:r>
              <a:rPr lang="en-US" sz="1250" dirty="0">
                <a:solidFill>
                  <a:srgbClr val="4A5568"/>
                </a:solidFill>
                <a:latin typeface="Consolas" pitchFamily="34" charset="0"/>
                <a:ea typeface="Consolas" pitchFamily="34" charset="-122"/>
                <a:cs typeface="Consolas" pitchFamily="34" charset="-120"/>
              </a:rPr>
              <a:t>raw/{session}/{file}</a:t>
            </a:r>
            <a:endParaRPr lang="en-US" sz="1250" dirty="0"/>
          </a:p>
        </p:txBody>
      </p:sp>
      <p:sp>
        <p:nvSpPr>
          <p:cNvPr id="13" name="Text 11"/>
          <p:cNvSpPr txBox="1"/>
          <p:nvPr/>
        </p:nvSpPr>
        <p:spPr>
          <a:xfrm>
            <a:off x="9646920" y="2496312"/>
            <a:ext cx="1828800" cy="274320"/>
          </a:xfrm>
          <a:prstGeom prst="rect">
            <a:avLst/>
          </a:prstGeom>
          <a:noFill/>
          <a:ln/>
        </p:spPr>
        <p:txBody>
          <a:bodyPr wrap="square" lIns="0" tIns="0" rIns="0" bIns="0" rtlCol="0" anchor="t"/>
          <a:lstStyle/>
          <a:p>
            <a:pPr algn="l" indent="0" marL="0">
              <a:buNone/>
            </a:pPr>
            <a:r>
              <a:rPr lang="en-US" sz="1350" dirty="0">
                <a:solidFill>
                  <a:srgbClr val="4A5568"/>
                </a:solidFill>
                <a:latin typeface="Calibri" pitchFamily="34" charset="0"/>
                <a:ea typeface="Calibri" pitchFamily="34" charset="-122"/>
                <a:cs typeface="Calibri" pitchFamily="34" charset="-120"/>
              </a:rPr>
              <a:t>Thread TTL</a:t>
            </a:r>
            <a:endParaRPr lang="en-US" sz="1350" dirty="0"/>
          </a:p>
        </p:txBody>
      </p:sp>
      <p:sp>
        <p:nvSpPr>
          <p:cNvPr id="14" name="Shape 12"/>
          <p:cNvSpPr/>
          <p:nvPr/>
        </p:nvSpPr>
        <p:spPr>
          <a:xfrm>
            <a:off x="640080" y="2898648"/>
            <a:ext cx="10881360" cy="566928"/>
          </a:xfrm>
          <a:prstGeom prst="roundRect">
            <a:avLst>
              <a:gd name="adj" fmla="val 12903"/>
            </a:avLst>
          </a:prstGeom>
          <a:solidFill>
            <a:srgbClr val="F4F6F8"/>
          </a:solidFill>
          <a:ln w="12700">
            <a:solidFill>
              <a:srgbClr val="E3E6E4"/>
            </a:solidFill>
            <a:prstDash val="solid"/>
          </a:ln>
        </p:spPr>
      </p:sp>
      <p:sp>
        <p:nvSpPr>
          <p:cNvPr id="15" name="Text 13"/>
          <p:cNvSpPr txBox="1"/>
          <p:nvPr/>
        </p:nvSpPr>
        <p:spPr>
          <a:xfrm>
            <a:off x="777240" y="3063240"/>
            <a:ext cx="2651760" cy="274320"/>
          </a:xfrm>
          <a:prstGeom prst="rect">
            <a:avLst/>
          </a:prstGeom>
          <a:noFill/>
          <a:ln/>
        </p:spPr>
        <p:txBody>
          <a:bodyPr wrap="square" lIns="0" tIns="0" rIns="0" bIns="0" rtlCol="0" anchor="t"/>
          <a:lstStyle/>
          <a:p>
            <a:pPr algn="l" indent="0" marL="0">
              <a:buNone/>
            </a:pPr>
            <a:r>
              <a:rPr lang="en-US" sz="1350" b="1" dirty="0">
                <a:solidFill>
                  <a:srgbClr val="14213D"/>
                </a:solidFill>
                <a:latin typeface="Calibri" pitchFamily="34" charset="0"/>
                <a:ea typeface="Calibri" pitchFamily="34" charset="-122"/>
                <a:cs typeface="Calibri" pitchFamily="34" charset="-120"/>
              </a:rPr>
              <a:t>Intermediate BDA JSON</a:t>
            </a:r>
            <a:endParaRPr lang="en-US" sz="1350" dirty="0"/>
          </a:p>
        </p:txBody>
      </p:sp>
      <p:sp>
        <p:nvSpPr>
          <p:cNvPr id="16" name="Text 14"/>
          <p:cNvSpPr txBox="1"/>
          <p:nvPr/>
        </p:nvSpPr>
        <p:spPr>
          <a:xfrm>
            <a:off x="3611880" y="3063240"/>
            <a:ext cx="2194560" cy="274320"/>
          </a:xfrm>
          <a:prstGeom prst="rect">
            <a:avLst/>
          </a:prstGeom>
          <a:noFill/>
          <a:ln/>
        </p:spPr>
        <p:txBody>
          <a:bodyPr wrap="square" lIns="0" tIns="0" rIns="0" bIns="0" rtlCol="0" anchor="t"/>
          <a:lstStyle/>
          <a:p>
            <a:pPr algn="l" indent="0" marL="0">
              <a:buNone/>
            </a:pPr>
            <a:r>
              <a:rPr lang="en-US" sz="1350" dirty="0">
                <a:solidFill>
                  <a:srgbClr val="4A5568"/>
                </a:solidFill>
                <a:latin typeface="Calibri" pitchFamily="34" charset="0"/>
                <a:ea typeface="Calibri" pitchFamily="34" charset="-122"/>
                <a:cs typeface="Calibri" pitchFamily="34" charset="-120"/>
              </a:rPr>
              <a:t>S3 extracted</a:t>
            </a:r>
            <a:endParaRPr lang="en-US" sz="1350" dirty="0"/>
          </a:p>
        </p:txBody>
      </p:sp>
      <p:sp>
        <p:nvSpPr>
          <p:cNvPr id="17" name="Text 15"/>
          <p:cNvSpPr txBox="1"/>
          <p:nvPr/>
        </p:nvSpPr>
        <p:spPr>
          <a:xfrm>
            <a:off x="5989320" y="3063240"/>
            <a:ext cx="3474720" cy="274320"/>
          </a:xfrm>
          <a:prstGeom prst="rect">
            <a:avLst/>
          </a:prstGeom>
          <a:noFill/>
          <a:ln/>
        </p:spPr>
        <p:txBody>
          <a:bodyPr wrap="square" lIns="0" tIns="0" rIns="0" bIns="0" rtlCol="0" anchor="t"/>
          <a:lstStyle/>
          <a:p>
            <a:pPr algn="l" indent="0" marL="0">
              <a:buNone/>
            </a:pPr>
            <a:r>
              <a:rPr lang="en-US" sz="1250" dirty="0">
                <a:solidFill>
                  <a:srgbClr val="4A5568"/>
                </a:solidFill>
                <a:latin typeface="Consolas" pitchFamily="34" charset="0"/>
                <a:ea typeface="Consolas" pitchFamily="34" charset="-122"/>
                <a:cs typeface="Consolas" pitchFamily="34" charset="-120"/>
              </a:rPr>
              <a:t>extracted/{session}/{file}</a:t>
            </a:r>
            <a:endParaRPr lang="en-US" sz="1250" dirty="0"/>
          </a:p>
        </p:txBody>
      </p:sp>
      <p:sp>
        <p:nvSpPr>
          <p:cNvPr id="18" name="Text 16"/>
          <p:cNvSpPr txBox="1"/>
          <p:nvPr/>
        </p:nvSpPr>
        <p:spPr>
          <a:xfrm>
            <a:off x="9646920" y="3063240"/>
            <a:ext cx="1828800" cy="274320"/>
          </a:xfrm>
          <a:prstGeom prst="rect">
            <a:avLst/>
          </a:prstGeom>
          <a:noFill/>
          <a:ln/>
        </p:spPr>
        <p:txBody>
          <a:bodyPr wrap="square" lIns="0" tIns="0" rIns="0" bIns="0" rtlCol="0" anchor="t"/>
          <a:lstStyle/>
          <a:p>
            <a:pPr algn="l" indent="0" marL="0">
              <a:buNone/>
            </a:pPr>
            <a:r>
              <a:rPr lang="en-US" sz="1350" dirty="0">
                <a:solidFill>
                  <a:srgbClr val="4A5568"/>
                </a:solidFill>
                <a:latin typeface="Calibri" pitchFamily="34" charset="0"/>
                <a:ea typeface="Calibri" pitchFamily="34" charset="-122"/>
                <a:cs typeface="Calibri" pitchFamily="34" charset="-120"/>
              </a:rPr>
              <a:t>Purged post-normalize</a:t>
            </a:r>
            <a:endParaRPr lang="en-US" sz="1350" dirty="0"/>
          </a:p>
        </p:txBody>
      </p:sp>
      <p:sp>
        <p:nvSpPr>
          <p:cNvPr id="19" name="Shape 17"/>
          <p:cNvSpPr/>
          <p:nvPr/>
        </p:nvSpPr>
        <p:spPr>
          <a:xfrm>
            <a:off x="640080" y="3465576"/>
            <a:ext cx="10881360" cy="566928"/>
          </a:xfrm>
          <a:prstGeom prst="roundRect">
            <a:avLst>
              <a:gd name="adj" fmla="val 12903"/>
            </a:avLst>
          </a:prstGeom>
          <a:solidFill>
            <a:srgbClr val="FFFFFF"/>
          </a:solidFill>
          <a:ln w="12700">
            <a:solidFill>
              <a:srgbClr val="E3E6E4"/>
            </a:solidFill>
            <a:prstDash val="solid"/>
          </a:ln>
        </p:spPr>
      </p:sp>
      <p:sp>
        <p:nvSpPr>
          <p:cNvPr id="20" name="Text 18"/>
          <p:cNvSpPr txBox="1"/>
          <p:nvPr/>
        </p:nvSpPr>
        <p:spPr>
          <a:xfrm>
            <a:off x="777240" y="3630168"/>
            <a:ext cx="2651760" cy="274320"/>
          </a:xfrm>
          <a:prstGeom prst="rect">
            <a:avLst/>
          </a:prstGeom>
          <a:noFill/>
          <a:ln/>
        </p:spPr>
        <p:txBody>
          <a:bodyPr wrap="square" lIns="0" tIns="0" rIns="0" bIns="0" rtlCol="0" anchor="t"/>
          <a:lstStyle/>
          <a:p>
            <a:pPr algn="l" indent="0" marL="0">
              <a:buNone/>
            </a:pPr>
            <a:r>
              <a:rPr lang="en-US" sz="1350" b="1" dirty="0">
                <a:solidFill>
                  <a:srgbClr val="14213D"/>
                </a:solidFill>
                <a:latin typeface="Calibri" pitchFamily="34" charset="0"/>
                <a:ea typeface="Calibri" pitchFamily="34" charset="-122"/>
                <a:cs typeface="Calibri" pitchFamily="34" charset="-120"/>
              </a:rPr>
              <a:t>Parsed markdown</a:t>
            </a:r>
            <a:endParaRPr lang="en-US" sz="1350" dirty="0"/>
          </a:p>
        </p:txBody>
      </p:sp>
      <p:sp>
        <p:nvSpPr>
          <p:cNvPr id="21" name="Text 19"/>
          <p:cNvSpPr txBox="1"/>
          <p:nvPr/>
        </p:nvSpPr>
        <p:spPr>
          <a:xfrm>
            <a:off x="3611880" y="3630168"/>
            <a:ext cx="2194560" cy="274320"/>
          </a:xfrm>
          <a:prstGeom prst="rect">
            <a:avLst/>
          </a:prstGeom>
          <a:noFill/>
          <a:ln/>
        </p:spPr>
        <p:txBody>
          <a:bodyPr wrap="square" lIns="0" tIns="0" rIns="0" bIns="0" rtlCol="0" anchor="t"/>
          <a:lstStyle/>
          <a:p>
            <a:pPr algn="l" indent="0" marL="0">
              <a:buNone/>
            </a:pPr>
            <a:r>
              <a:rPr lang="en-US" sz="1350" dirty="0">
                <a:solidFill>
                  <a:srgbClr val="4A5568"/>
                </a:solidFill>
                <a:latin typeface="Calibri" pitchFamily="34" charset="0"/>
                <a:ea typeface="Calibri" pitchFamily="34" charset="-122"/>
                <a:cs typeface="Calibri" pitchFamily="34" charset="-120"/>
              </a:rPr>
              <a:t>S3 chat history</a:t>
            </a:r>
            <a:endParaRPr lang="en-US" sz="1350" dirty="0"/>
          </a:p>
        </p:txBody>
      </p:sp>
      <p:sp>
        <p:nvSpPr>
          <p:cNvPr id="22" name="Text 20"/>
          <p:cNvSpPr txBox="1"/>
          <p:nvPr/>
        </p:nvSpPr>
        <p:spPr>
          <a:xfrm>
            <a:off x="5989320" y="3630168"/>
            <a:ext cx="3474720" cy="274320"/>
          </a:xfrm>
          <a:prstGeom prst="rect">
            <a:avLst/>
          </a:prstGeom>
          <a:noFill/>
          <a:ln/>
        </p:spPr>
        <p:txBody>
          <a:bodyPr wrap="square" lIns="0" tIns="0" rIns="0" bIns="0" rtlCol="0" anchor="t"/>
          <a:lstStyle/>
          <a:p>
            <a:pPr algn="l" indent="0" marL="0">
              <a:buNone/>
            </a:pPr>
            <a:r>
              <a:rPr lang="en-US" sz="1250" dirty="0">
                <a:solidFill>
                  <a:srgbClr val="4A5568"/>
                </a:solidFill>
                <a:latin typeface="Consolas" pitchFamily="34" charset="0"/>
                <a:ea typeface="Consolas" pitchFamily="34" charset="-122"/>
                <a:cs typeface="Consolas" pitchFamily="34" charset="-120"/>
              </a:rPr>
              <a:t>processed/{session}/{file}</a:t>
            </a:r>
            <a:endParaRPr lang="en-US" sz="1250" dirty="0"/>
          </a:p>
        </p:txBody>
      </p:sp>
      <p:sp>
        <p:nvSpPr>
          <p:cNvPr id="23" name="Text 21"/>
          <p:cNvSpPr txBox="1"/>
          <p:nvPr/>
        </p:nvSpPr>
        <p:spPr>
          <a:xfrm>
            <a:off x="9646920" y="3630168"/>
            <a:ext cx="1828800" cy="274320"/>
          </a:xfrm>
          <a:prstGeom prst="rect">
            <a:avLst/>
          </a:prstGeom>
          <a:noFill/>
          <a:ln/>
        </p:spPr>
        <p:txBody>
          <a:bodyPr wrap="square" lIns="0" tIns="0" rIns="0" bIns="0" rtlCol="0" anchor="t"/>
          <a:lstStyle/>
          <a:p>
            <a:pPr algn="l" indent="0" marL="0">
              <a:buNone/>
            </a:pPr>
            <a:r>
              <a:rPr lang="en-US" sz="1350" dirty="0">
                <a:solidFill>
                  <a:srgbClr val="4A5568"/>
                </a:solidFill>
                <a:latin typeface="Calibri" pitchFamily="34" charset="0"/>
                <a:ea typeface="Calibri" pitchFamily="34" charset="-122"/>
                <a:cs typeface="Calibri" pitchFamily="34" charset="-120"/>
              </a:rPr>
              <a:t>Active thread only</a:t>
            </a:r>
            <a:endParaRPr lang="en-US" sz="1350" dirty="0"/>
          </a:p>
        </p:txBody>
      </p:sp>
      <p:sp>
        <p:nvSpPr>
          <p:cNvPr id="24" name="Shape 22"/>
          <p:cNvSpPr/>
          <p:nvPr/>
        </p:nvSpPr>
        <p:spPr>
          <a:xfrm>
            <a:off x="640080" y="4032504"/>
            <a:ext cx="10881360" cy="566928"/>
          </a:xfrm>
          <a:prstGeom prst="roundRect">
            <a:avLst>
              <a:gd name="adj" fmla="val 12903"/>
            </a:avLst>
          </a:prstGeom>
          <a:solidFill>
            <a:srgbClr val="F4F6F8"/>
          </a:solidFill>
          <a:ln w="12700">
            <a:solidFill>
              <a:srgbClr val="E3E6E4"/>
            </a:solidFill>
            <a:prstDash val="solid"/>
          </a:ln>
        </p:spPr>
      </p:sp>
      <p:sp>
        <p:nvSpPr>
          <p:cNvPr id="25" name="Text 23"/>
          <p:cNvSpPr txBox="1"/>
          <p:nvPr/>
        </p:nvSpPr>
        <p:spPr>
          <a:xfrm>
            <a:off x="777240" y="4197096"/>
            <a:ext cx="2651760" cy="274320"/>
          </a:xfrm>
          <a:prstGeom prst="rect">
            <a:avLst/>
          </a:prstGeom>
          <a:noFill/>
          <a:ln/>
        </p:spPr>
        <p:txBody>
          <a:bodyPr wrap="square" lIns="0" tIns="0" rIns="0" bIns="0" rtlCol="0" anchor="t"/>
          <a:lstStyle/>
          <a:p>
            <a:pPr algn="l" indent="0" marL="0">
              <a:buNone/>
            </a:pPr>
            <a:r>
              <a:rPr lang="en-US" sz="1350" b="1" dirty="0">
                <a:solidFill>
                  <a:srgbClr val="14213D"/>
                </a:solidFill>
                <a:latin typeface="Calibri" pitchFamily="34" charset="0"/>
                <a:ea typeface="Calibri" pitchFamily="34" charset="-122"/>
                <a:cs typeface="Calibri" pitchFamily="34" charset="-120"/>
              </a:rPr>
              <a:t>File tracking record</a:t>
            </a:r>
            <a:endParaRPr lang="en-US" sz="1350" dirty="0"/>
          </a:p>
        </p:txBody>
      </p:sp>
      <p:sp>
        <p:nvSpPr>
          <p:cNvPr id="26" name="Text 24"/>
          <p:cNvSpPr txBox="1"/>
          <p:nvPr/>
        </p:nvSpPr>
        <p:spPr>
          <a:xfrm>
            <a:off x="3611880" y="4197096"/>
            <a:ext cx="2194560" cy="274320"/>
          </a:xfrm>
          <a:prstGeom prst="rect">
            <a:avLst/>
          </a:prstGeom>
          <a:noFill/>
          <a:ln/>
        </p:spPr>
        <p:txBody>
          <a:bodyPr wrap="square" lIns="0" tIns="0" rIns="0" bIns="0" rtlCol="0" anchor="t"/>
          <a:lstStyle/>
          <a:p>
            <a:pPr algn="l" indent="0" marL="0">
              <a:buNone/>
            </a:pPr>
            <a:r>
              <a:rPr lang="en-US" sz="1350" dirty="0">
                <a:solidFill>
                  <a:srgbClr val="4A5568"/>
                </a:solidFill>
                <a:latin typeface="Calibri" pitchFamily="34" charset="0"/>
                <a:ea typeface="Calibri" pitchFamily="34" charset="-122"/>
                <a:cs typeface="Calibri" pitchFamily="34" charset="-120"/>
              </a:rPr>
              <a:t>Postgres</a:t>
            </a:r>
            <a:endParaRPr lang="en-US" sz="1350" dirty="0"/>
          </a:p>
        </p:txBody>
      </p:sp>
      <p:sp>
        <p:nvSpPr>
          <p:cNvPr id="27" name="Text 25"/>
          <p:cNvSpPr txBox="1"/>
          <p:nvPr/>
        </p:nvSpPr>
        <p:spPr>
          <a:xfrm>
            <a:off x="5989320" y="4197096"/>
            <a:ext cx="3474720" cy="274320"/>
          </a:xfrm>
          <a:prstGeom prst="rect">
            <a:avLst/>
          </a:prstGeom>
          <a:noFill/>
          <a:ln/>
        </p:spPr>
        <p:txBody>
          <a:bodyPr wrap="square" lIns="0" tIns="0" rIns="0" bIns="0" rtlCol="0" anchor="t"/>
          <a:lstStyle/>
          <a:p>
            <a:pPr algn="l" indent="0" marL="0">
              <a:buNone/>
            </a:pPr>
            <a:r>
              <a:rPr lang="en-US" sz="1250" dirty="0">
                <a:solidFill>
                  <a:srgbClr val="4A5568"/>
                </a:solidFill>
                <a:latin typeface="Consolas" pitchFamily="34" charset="0"/>
                <a:ea typeface="Consolas" pitchFamily="34" charset="-122"/>
                <a:cs typeface="Consolas" pitchFamily="34" charset="-120"/>
              </a:rPr>
              <a:t>session_id PK / file_id SK</a:t>
            </a:r>
            <a:endParaRPr lang="en-US" sz="1250" dirty="0"/>
          </a:p>
        </p:txBody>
      </p:sp>
      <p:sp>
        <p:nvSpPr>
          <p:cNvPr id="28" name="Text 26"/>
          <p:cNvSpPr txBox="1"/>
          <p:nvPr/>
        </p:nvSpPr>
        <p:spPr>
          <a:xfrm>
            <a:off x="9646920" y="4197096"/>
            <a:ext cx="1828800" cy="274320"/>
          </a:xfrm>
          <a:prstGeom prst="rect">
            <a:avLst/>
          </a:prstGeom>
          <a:noFill/>
          <a:ln/>
        </p:spPr>
        <p:txBody>
          <a:bodyPr wrap="square" lIns="0" tIns="0" rIns="0" bIns="0" rtlCol="0" anchor="t"/>
          <a:lstStyle/>
          <a:p>
            <a:pPr algn="l" indent="0" marL="0">
              <a:buNone/>
            </a:pPr>
            <a:r>
              <a:rPr lang="en-US" sz="1350" dirty="0">
                <a:solidFill>
                  <a:srgbClr val="4A5568"/>
                </a:solidFill>
                <a:latin typeface="Calibri" pitchFamily="34" charset="0"/>
                <a:ea typeface="Calibri" pitchFamily="34" charset="-122"/>
                <a:cs typeface="Calibri" pitchFamily="34" charset="-120"/>
              </a:rPr>
              <a:t>Session lifecycle TTL</a:t>
            </a:r>
            <a:endParaRPr lang="en-US" sz="1350" dirty="0"/>
          </a:p>
        </p:txBody>
      </p:sp>
      <p:sp>
        <p:nvSpPr>
          <p:cNvPr id="29" name="Shape 27"/>
          <p:cNvSpPr/>
          <p:nvPr/>
        </p:nvSpPr>
        <p:spPr>
          <a:xfrm>
            <a:off x="640080" y="4892040"/>
            <a:ext cx="10881360" cy="1143000"/>
          </a:xfrm>
          <a:prstGeom prst="roundRect">
            <a:avLst>
              <a:gd name="adj" fmla="val 6400"/>
            </a:avLst>
          </a:prstGeom>
          <a:solidFill>
            <a:srgbClr val="DBEAFE"/>
          </a:solidFill>
          <a:ln/>
        </p:spPr>
      </p:sp>
      <p:sp>
        <p:nvSpPr>
          <p:cNvPr id="30" name="Text 28"/>
          <p:cNvSpPr txBox="1"/>
          <p:nvPr/>
        </p:nvSpPr>
        <p:spPr>
          <a:xfrm>
            <a:off x="914400" y="5074920"/>
            <a:ext cx="10332720" cy="868680"/>
          </a:xfrm>
          <a:prstGeom prst="rect">
            <a:avLst/>
          </a:prstGeom>
          <a:noFill/>
          <a:ln/>
        </p:spPr>
        <p:txBody>
          <a:bodyPr wrap="square" lIns="0" tIns="0" rIns="0" bIns="0" rtlCol="0" anchor="t"/>
          <a:lstStyle/>
          <a:p>
            <a:pPr algn="l" indent="0" marL="0">
              <a:buNone/>
            </a:pPr>
            <a:r>
              <a:rPr lang="en-US" sz="1350" b="1" dirty="0">
                <a:solidFill>
                  <a:srgbClr val="14213D"/>
                </a:solidFill>
              </a:rPr>
              <a:t>Session-scoped isolation: </a:t>
            </a:r>
            <a:pPr algn="l" indent="0" marL="0">
              <a:buNone/>
            </a:pPr>
            <a:r>
              <a:rPr lang="en-US" sz="1350" dirty="0">
                <a:solidFill>
                  <a:srgbClr val="14213D"/>
                </a:solidFill>
              </a:rPr>
              <a:t>every artifact is partitioned by </a:t>
            </a:r>
            <a:pPr algn="l" indent="0" marL="0">
              <a:buNone/>
            </a:pPr>
            <a:r>
              <a:rPr lang="en-US" sz="1350" dirty="0">
                <a:solidFill>
                  <a:srgbClr val="1E3A8A"/>
                </a:solidFill>
                <a:latin typeface="Consolas" pitchFamily="34" charset="0"/>
                <a:ea typeface="Consolas" pitchFamily="34" charset="-122"/>
                <a:cs typeface="Consolas" pitchFamily="34" charset="-120"/>
              </a:rPr>
              <a:t>session_id</a:t>
            </a:r>
            <a:pPr algn="l" indent="0" marL="0">
              <a:buNone/>
            </a:pPr>
            <a:r>
              <a:rPr lang="en-US" sz="1350" dirty="0">
                <a:solidFill>
                  <a:srgbClr val="14213D"/>
                </a:solidFill>
              </a:rPr>
              <a:t> and </a:t>
            </a:r>
            <a:pPr algn="l" indent="0" marL="0">
              <a:buNone/>
            </a:pPr>
            <a:r>
              <a:rPr lang="en-US" sz="1350" dirty="0">
                <a:solidFill>
                  <a:srgbClr val="1E3A8A"/>
                </a:solidFill>
                <a:latin typeface="Consolas" pitchFamily="34" charset="0"/>
                <a:ea typeface="Consolas" pitchFamily="34" charset="-122"/>
                <a:cs typeface="Consolas" pitchFamily="34" charset="-120"/>
              </a:rPr>
              <a:t>actor_id</a:t>
            </a:r>
            <a:pPr algn="l" indent="0" marL="0">
              <a:buNone/>
            </a:pPr>
            <a:r>
              <a:rPr lang="en-US" sz="1350" dirty="0">
                <a:solidFill>
                  <a:srgbClr val="14213D"/>
                </a:solidFill>
              </a:rPr>
              <a:t>. No cross-session persistence or multi-session libraries in v1. Uploads are ephemeral input context only — the system does not classify privilege or confidentiality; that stays client-managed. Telemetry logs no raw file contents or PII.</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ph idx="100" type="body" hasCustomPrompt="1"/>
          </p:nvPr>
        </p:nvSpPr>
        <p:spPr>
          <a:xfrm>
            <a:off x="640080" y="457200"/>
            <a:ext cx="10881360" cy="320040"/>
          </a:xfrm>
          <a:prstGeom prst="rect">
            <a:avLst/>
          </a:prstGeom>
          <a:noFill/>
          <a:ln/>
        </p:spPr>
        <p:txBody>
          <a:bodyPr wrap="square" lIns="0" tIns="0" rIns="0" bIns="0" rtlCol="0" anchor="t"/>
          <a:lstStyle/>
          <a:p>
            <a:pPr algn="l" indent="0" marL="0">
              <a:buNone/>
            </a:pPr>
            <a:r>
              <a:rPr lang="en-US" sz="1300" b="1" spc="200" kern="0" dirty="0">
                <a:solidFill>
                  <a:srgbClr val="2563EB"/>
                </a:solidFill>
                <a:latin typeface="Consolas" pitchFamily="34" charset="0"/>
                <a:ea typeface="Consolas" pitchFamily="34" charset="-122"/>
                <a:cs typeface="Consolas" pitchFamily="34" charset="-120"/>
              </a:rPr>
              <a:t>RELIABILITY &amp; OBSERVABILITY</a:t>
            </a:r>
            <a:endParaRPr lang="en-US" sz="1300" dirty="0"/>
          </a:p>
        </p:txBody>
      </p:sp>
      <p:sp>
        <p:nvSpPr>
          <p:cNvPr id="3" name="Text 0"/>
          <p:cNvSpPr txBox="1"/>
          <p:nvPr>
            <p:ph idx="101" type="title" hasCustomPrompt="1"/>
          </p:nvPr>
        </p:nvSpPr>
        <p:spPr>
          <a:xfrm>
            <a:off x="640080" y="777240"/>
            <a:ext cx="10881360" cy="868680"/>
          </a:xfrm>
          <a:prstGeom prst="rect">
            <a:avLst/>
          </a:prstGeom>
          <a:noFill/>
          <a:ln/>
        </p:spPr>
        <p:txBody>
          <a:bodyPr wrap="square" lIns="0" tIns="0" rIns="0" bIns="0" rtlCol="0" anchor="t"/>
          <a:lstStyle/>
          <a:p>
            <a:pPr algn="l" indent="0" marL="0">
              <a:buNone/>
            </a:pPr>
            <a:r>
              <a:rPr lang="en-US" sz="3200" b="1" dirty="0">
                <a:solidFill>
                  <a:srgbClr val="14213D"/>
                </a:solidFill>
                <a:latin typeface="Calibri" pitchFamily="34" charset="0"/>
                <a:ea typeface="Calibri" pitchFamily="34" charset="-122"/>
                <a:cs typeface="Calibri" pitchFamily="34" charset="-120"/>
              </a:rPr>
              <a:t>Multi-region active, fully instrumented</a:t>
            </a:r>
            <a:endParaRPr lang="en-US" sz="3200" dirty="0"/>
          </a:p>
        </p:txBody>
      </p:sp>
      <p:sp>
        <p:nvSpPr>
          <p:cNvPr id="4" name="Shape 2"/>
          <p:cNvSpPr/>
          <p:nvPr/>
        </p:nvSpPr>
        <p:spPr>
          <a:xfrm>
            <a:off x="640080" y="1874520"/>
            <a:ext cx="5760720" cy="4160520"/>
          </a:xfrm>
          <a:prstGeom prst="roundRect">
            <a:avLst>
              <a:gd name="adj" fmla="val 1758"/>
            </a:avLst>
          </a:prstGeom>
          <a:solidFill>
            <a:srgbClr val="F4F6F8"/>
          </a:solidFill>
          <a:ln w="12700">
            <a:solidFill>
              <a:srgbClr val="E3E6E4"/>
            </a:solidFill>
            <a:prstDash val="solid"/>
          </a:ln>
        </p:spPr>
      </p:sp>
      <p:sp>
        <p:nvSpPr>
          <p:cNvPr id="5" name="Text 3"/>
          <p:cNvSpPr txBox="1"/>
          <p:nvPr/>
        </p:nvSpPr>
        <p:spPr>
          <a:xfrm>
            <a:off x="914400" y="2084832"/>
            <a:ext cx="5212080" cy="365760"/>
          </a:xfrm>
          <a:prstGeom prst="rect">
            <a:avLst/>
          </a:prstGeom>
          <a:noFill/>
          <a:ln/>
        </p:spPr>
        <p:txBody>
          <a:bodyPr wrap="square" lIns="0" tIns="0" rIns="0" bIns="0" rtlCol="0" anchor="t"/>
          <a:lstStyle/>
          <a:p>
            <a:pPr algn="l" indent="0" marL="0">
              <a:buNone/>
            </a:pPr>
            <a:r>
              <a:rPr lang="en-US" sz="1700" b="1" dirty="0">
                <a:solidFill>
                  <a:srgbClr val="14213D"/>
                </a:solidFill>
              </a:rPr>
              <a:t>DR: us-east-1 ↔ us-west-2</a:t>
            </a:r>
            <a:endParaRPr lang="en-US" sz="1700" dirty="0"/>
          </a:p>
        </p:txBody>
      </p:sp>
      <p:sp>
        <p:nvSpPr>
          <p:cNvPr id="6" name="Text 4"/>
          <p:cNvSpPr txBox="1"/>
          <p:nvPr/>
        </p:nvSpPr>
        <p:spPr>
          <a:xfrm>
            <a:off x="960120" y="2560320"/>
            <a:ext cx="5120640" cy="3291840"/>
          </a:xfrm>
          <a:prstGeom prst="rect">
            <a:avLst/>
          </a:prstGeom>
          <a:noFill/>
          <a:ln/>
        </p:spPr>
        <p:txBody>
          <a:bodyPr wrap="square" lIns="0" tIns="0" rIns="0" bIns="0" rtlCol="0" anchor="t"/>
          <a:lstStyle/>
          <a:p>
            <a:pPr algn="l" marL="177800" indent="-177800">
              <a:spcAft>
                <a:spcPts val="900"/>
              </a:spcAft>
              <a:buSzPct val="100000"/>
              <a:buChar char="•"/>
            </a:pPr>
            <a:r>
              <a:rPr lang="en-US" sz="1250" dirty="0">
                <a:solidFill>
                  <a:srgbClr val="4A5568"/>
                </a:solidFill>
              </a:rPr>
              <a:t>Document Ingestion Service runs in both regions; users upload to the regional S3 landing bucket.</a:t>
            </a:r>
            <a:endParaRPr lang="en-US" sz="1250" dirty="0"/>
          </a:p>
          <a:p>
            <a:pPr algn="l" marL="177800" indent="-177800">
              <a:spcAft>
                <a:spcPts val="900"/>
              </a:spcAft>
              <a:buSzPct val="100000"/>
              <a:buChar char="•"/>
            </a:pPr>
            <a:r>
              <a:rPr lang="en-US" sz="1250" dirty="0">
                <a:solidFill>
                  <a:srgbClr val="4A5568"/>
                </a:solidFill>
              </a:rPr>
              <a:t>Raw and output S3 buckets stay synchronized across regions (bi-directional CRR).</a:t>
            </a:r>
            <a:endParaRPr lang="en-US" sz="1250" dirty="0"/>
          </a:p>
          <a:p>
            <a:pPr algn="l" marL="177800" indent="-177800">
              <a:spcAft>
                <a:spcPts val="900"/>
              </a:spcAft>
              <a:buSzPct val="100000"/>
              <a:buChar char="•"/>
            </a:pPr>
            <a:r>
              <a:rPr lang="en-US" sz="1250" dirty="0">
                <a:solidFill>
                  <a:srgbClr val="4A5568"/>
                </a:solidFill>
              </a:rPr>
              <a:t>The active region's extraction service invokes BDA and writes to its regional output; Convologic reads from the active source.</a:t>
            </a:r>
            <a:endParaRPr lang="en-US" sz="1250" dirty="0"/>
          </a:p>
          <a:p>
            <a:pPr algn="l" marL="177800" indent="-177800">
              <a:spcAft>
                <a:spcPts val="900"/>
              </a:spcAft>
              <a:buSzPct val="100000"/>
              <a:buChar char="•"/>
            </a:pPr>
            <a:r>
              <a:rPr lang="en-US" sz="1250" dirty="0">
                <a:solidFill>
                  <a:srgbClr val="4A5568"/>
                </a:solidFill>
              </a:rPr>
              <a:t>Stateless ingestion &amp; workers absorb slow extraction without blocking the conversation path.</a:t>
            </a:r>
            <a:endParaRPr lang="en-US" sz="1250" dirty="0"/>
          </a:p>
          <a:p>
            <a:pPr algn="l" marL="177800" indent="-177800">
              <a:spcAft>
                <a:spcPts val="900"/>
              </a:spcAft>
              <a:buSzPct val="100000"/>
              <a:buChar char="•"/>
            </a:pPr>
            <a:r>
              <a:rPr lang="en-US" sz="1250" dirty="0">
                <a:solidFill>
                  <a:srgbClr val="4A5568"/>
                </a:solidFill>
              </a:rPr>
              <a:t>Malware verdict and extraction stay separate steps — never parse before the safety verdict.</a:t>
            </a:r>
            <a:endParaRPr lang="en-US" sz="1250" dirty="0"/>
          </a:p>
        </p:txBody>
      </p:sp>
      <p:sp>
        <p:nvSpPr>
          <p:cNvPr id="7" name="Shape 5"/>
          <p:cNvSpPr/>
          <p:nvPr/>
        </p:nvSpPr>
        <p:spPr>
          <a:xfrm>
            <a:off x="6583680" y="1874520"/>
            <a:ext cx="4937760" cy="4160520"/>
          </a:xfrm>
          <a:prstGeom prst="roundRect">
            <a:avLst>
              <a:gd name="adj" fmla="val 1758"/>
            </a:avLst>
          </a:prstGeom>
          <a:solidFill>
            <a:srgbClr val="14213D"/>
          </a:solidFill>
          <a:ln/>
        </p:spPr>
      </p:sp>
      <p:sp>
        <p:nvSpPr>
          <p:cNvPr id="8" name="Text 6"/>
          <p:cNvSpPr txBox="1"/>
          <p:nvPr/>
        </p:nvSpPr>
        <p:spPr>
          <a:xfrm>
            <a:off x="6858000" y="2084832"/>
            <a:ext cx="4389120" cy="365760"/>
          </a:xfrm>
          <a:prstGeom prst="rect">
            <a:avLst/>
          </a:prstGeom>
          <a:noFill/>
          <a:ln/>
        </p:spPr>
        <p:txBody>
          <a:bodyPr wrap="square" lIns="0" tIns="0" rIns="0" bIns="0" rtlCol="0" anchor="t"/>
          <a:lstStyle/>
          <a:p>
            <a:pPr algn="l" indent="0" marL="0">
              <a:buNone/>
            </a:pPr>
            <a:r>
              <a:rPr lang="en-US" sz="1700" b="1" dirty="0">
                <a:solidFill>
                  <a:srgbClr val="60A5FA"/>
                </a:solidFill>
              </a:rPr>
              <a:t>What we watch</a:t>
            </a:r>
            <a:endParaRPr lang="en-US" sz="1700" dirty="0"/>
          </a:p>
        </p:txBody>
      </p:sp>
      <p:sp>
        <p:nvSpPr>
          <p:cNvPr id="9" name="Text 7"/>
          <p:cNvSpPr txBox="1"/>
          <p:nvPr/>
        </p:nvSpPr>
        <p:spPr>
          <a:xfrm>
            <a:off x="6903720" y="2560320"/>
            <a:ext cx="4343400" cy="3291840"/>
          </a:xfrm>
          <a:prstGeom prst="rect">
            <a:avLst/>
          </a:prstGeom>
          <a:noFill/>
          <a:ln/>
        </p:spPr>
        <p:txBody>
          <a:bodyPr wrap="square" lIns="0" tIns="0" rIns="0" bIns="0" rtlCol="0" anchor="t"/>
          <a:lstStyle/>
          <a:p>
            <a:pPr algn="l" marL="177800" indent="-177800">
              <a:spcAft>
                <a:spcPts val="800"/>
              </a:spcAft>
              <a:buSzPct val="100000"/>
              <a:buChar char="•"/>
            </a:pPr>
            <a:r>
              <a:rPr lang="en-US" sz="1250" dirty="0">
                <a:solidFill>
                  <a:srgbClr val="BFD8D5"/>
                </a:solidFill>
              </a:rPr>
              <a:t>Document-ready latency across upload → scan → extract → normalize → retrieve.</a:t>
            </a:r>
            <a:endParaRPr lang="en-US" sz="1250" dirty="0"/>
          </a:p>
          <a:p>
            <a:pPr algn="l" marL="177800" indent="-177800">
              <a:spcAft>
                <a:spcPts val="800"/>
              </a:spcAft>
              <a:buSzPct val="100000"/>
              <a:buChar char="•"/>
            </a:pPr>
            <a:r>
              <a:rPr lang="en-US" sz="1250" dirty="0">
                <a:solidFill>
                  <a:srgbClr val="BFD8D5"/>
                </a:solidFill>
              </a:rPr>
              <a:t>Throughput, queue depth, worker saturation, retries, regional distribution.</a:t>
            </a:r>
            <a:endParaRPr lang="en-US" sz="1250" dirty="0"/>
          </a:p>
          <a:p>
            <a:pPr algn="l" marL="177800" indent="-177800">
              <a:spcAft>
                <a:spcPts val="800"/>
              </a:spcAft>
              <a:buSzPct val="100000"/>
              <a:buChar char="•"/>
            </a:pPr>
            <a:r>
              <a:rPr lang="en-US" sz="1250" dirty="0">
                <a:solidFill>
                  <a:srgbClr val="BFD8D5"/>
                </a:solidFill>
              </a:rPr>
              <a:t>Success / failure rates by stage; extraction quality for OCR, tables, diagrams, markdown.</a:t>
            </a:r>
            <a:endParaRPr lang="en-US" sz="1250" dirty="0"/>
          </a:p>
          <a:p>
            <a:pPr algn="l" marL="177800" indent="-177800">
              <a:spcAft>
                <a:spcPts val="800"/>
              </a:spcAft>
              <a:buSzPct val="100000"/>
              <a:buChar char="•"/>
            </a:pPr>
            <a:r>
              <a:rPr lang="en-US" sz="1250" dirty="0">
                <a:solidFill>
                  <a:srgbClr val="BFD8D5"/>
                </a:solidFill>
              </a:rPr>
              <a:t>Confidence scores &amp; low-confidence elements for grounding readiness.</a:t>
            </a:r>
            <a:endParaRPr lang="en-US" sz="1250" dirty="0"/>
          </a:p>
          <a:p>
            <a:pPr algn="l" marL="177800" indent="-177800">
              <a:spcAft>
                <a:spcPts val="800"/>
              </a:spcAft>
              <a:buSzPct val="100000"/>
              <a:buChar char="•"/>
            </a:pPr>
            <a:r>
              <a:rPr lang="en-US" sz="1250" dirty="0">
                <a:solidFill>
                  <a:srgbClr val="BFD8D5"/>
                </a:solidFill>
              </a:rPr>
              <a:t>BDA, S3, queue &amp; replication cost — per processed file.</a:t>
            </a:r>
            <a:endParaRPr lang="en-US" sz="1250" dirty="0"/>
          </a:p>
          <a:p>
            <a:pPr algn="l" marL="177800" indent="-177800">
              <a:spcAft>
                <a:spcPts val="800"/>
              </a:spcAft>
              <a:buSzPct val="100000"/>
              <a:buChar char="•"/>
            </a:pPr>
            <a:r>
              <a:rPr lang="en-US" sz="1250" dirty="0">
                <a:solidFill>
                  <a:srgbClr val="BFD8D5"/>
                </a:solidFill>
              </a:rPr>
              <a:t>CloudWatch + Splunk + Dynatrace dashboards; alerts for stuck jobs, DLQ growth, cost anomalies.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ph idx="100" type="body" hasCustomPrompt="1"/>
          </p:nvPr>
        </p:nvSpPr>
        <p:spPr>
          <a:xfrm>
            <a:off x="640080" y="457200"/>
            <a:ext cx="10881360" cy="320040"/>
          </a:xfrm>
          <a:prstGeom prst="rect">
            <a:avLst/>
          </a:prstGeom>
          <a:noFill/>
          <a:ln/>
        </p:spPr>
        <p:txBody>
          <a:bodyPr wrap="square" lIns="0" tIns="0" rIns="0" bIns="0" rtlCol="0" anchor="t"/>
          <a:lstStyle/>
          <a:p>
            <a:pPr algn="l" indent="0" marL="0">
              <a:buNone/>
            </a:pPr>
            <a:r>
              <a:rPr lang="en-US" sz="1300" b="1" spc="200" kern="0" dirty="0">
                <a:solidFill>
                  <a:srgbClr val="2563EB"/>
                </a:solidFill>
                <a:latin typeface="Consolas" pitchFamily="34" charset="0"/>
                <a:ea typeface="Consolas" pitchFamily="34" charset="-122"/>
                <a:cs typeface="Consolas" pitchFamily="34" charset="-120"/>
              </a:rPr>
              <a:t>WHY BDA, FOR THIS</a:t>
            </a:r>
            <a:endParaRPr lang="en-US" sz="1300" dirty="0"/>
          </a:p>
        </p:txBody>
      </p:sp>
      <p:sp>
        <p:nvSpPr>
          <p:cNvPr id="3" name="Text 0"/>
          <p:cNvSpPr txBox="1"/>
          <p:nvPr>
            <p:ph idx="101" type="title" hasCustomPrompt="1"/>
          </p:nvPr>
        </p:nvSpPr>
        <p:spPr>
          <a:xfrm>
            <a:off x="640080" y="777240"/>
            <a:ext cx="10881360" cy="868680"/>
          </a:xfrm>
          <a:prstGeom prst="rect">
            <a:avLst/>
          </a:prstGeom>
          <a:noFill/>
          <a:ln/>
        </p:spPr>
        <p:txBody>
          <a:bodyPr wrap="square" lIns="0" tIns="0" rIns="0" bIns="0" rtlCol="0" anchor="t"/>
          <a:lstStyle/>
          <a:p>
            <a:pPr algn="l" indent="0" marL="0">
              <a:buNone/>
            </a:pPr>
            <a:r>
              <a:rPr lang="en-US" sz="3200" b="1" dirty="0">
                <a:solidFill>
                  <a:srgbClr val="14213D"/>
                </a:solidFill>
                <a:latin typeface="Calibri" pitchFamily="34" charset="0"/>
                <a:ea typeface="Calibri" pitchFamily="34" charset="-122"/>
                <a:cs typeface="Calibri" pitchFamily="34" charset="-120"/>
              </a:rPr>
              <a:t>The fit between the engine and the product</a:t>
            </a:r>
            <a:endParaRPr lang="en-US" sz="3200" dirty="0"/>
          </a:p>
        </p:txBody>
      </p:sp>
      <p:sp>
        <p:nvSpPr>
          <p:cNvPr id="4" name="Shape 2"/>
          <p:cNvSpPr/>
          <p:nvPr/>
        </p:nvSpPr>
        <p:spPr>
          <a:xfrm>
            <a:off x="640080" y="1874520"/>
            <a:ext cx="5303520" cy="1280160"/>
          </a:xfrm>
          <a:prstGeom prst="roundRect">
            <a:avLst>
              <a:gd name="adj" fmla="val 5714"/>
            </a:avLst>
          </a:prstGeom>
          <a:solidFill>
            <a:srgbClr val="F4F6F8"/>
          </a:solidFill>
          <a:ln w="12700">
            <a:solidFill>
              <a:srgbClr val="E3E6E4"/>
            </a:solidFill>
            <a:prstDash val="solid"/>
          </a:ln>
        </p:spPr>
      </p:sp>
      <p:sp>
        <p:nvSpPr>
          <p:cNvPr id="5" name="Text 3"/>
          <p:cNvSpPr txBox="1"/>
          <p:nvPr/>
        </p:nvSpPr>
        <p:spPr>
          <a:xfrm>
            <a:off x="896112" y="2057400"/>
            <a:ext cx="4846320" cy="365760"/>
          </a:xfrm>
          <a:prstGeom prst="rect">
            <a:avLst/>
          </a:prstGeom>
          <a:noFill/>
          <a:ln/>
        </p:spPr>
        <p:txBody>
          <a:bodyPr wrap="square" lIns="0" tIns="0" rIns="0" bIns="0" rtlCol="0" anchor="t"/>
          <a:lstStyle/>
          <a:p>
            <a:pPr algn="l" indent="0" marL="0">
              <a:buNone/>
            </a:pPr>
            <a:r>
              <a:rPr lang="en-US" sz="1550" b="1" dirty="0">
                <a:solidFill>
                  <a:srgbClr val="14213D"/>
                </a:solidFill>
              </a:rPr>
              <a:t>Multimodal, one integration</a:t>
            </a:r>
            <a:endParaRPr lang="en-US" sz="1550" dirty="0"/>
          </a:p>
        </p:txBody>
      </p:sp>
      <p:sp>
        <p:nvSpPr>
          <p:cNvPr id="6" name="Text 4"/>
          <p:cNvSpPr txBox="1"/>
          <p:nvPr/>
        </p:nvSpPr>
        <p:spPr>
          <a:xfrm>
            <a:off x="896112" y="2441448"/>
            <a:ext cx="4846320" cy="640080"/>
          </a:xfrm>
          <a:prstGeom prst="rect">
            <a:avLst/>
          </a:prstGeom>
          <a:noFill/>
          <a:ln/>
        </p:spPr>
        <p:txBody>
          <a:bodyPr wrap="square" lIns="0" tIns="0" rIns="0" bIns="0" rtlCol="0" anchor="t"/>
          <a:lstStyle/>
          <a:p>
            <a:pPr algn="l" indent="0" marL="0">
              <a:buNone/>
            </a:pPr>
            <a:r>
              <a:rPr lang="en-US" sz="1250" dirty="0">
                <a:solidFill>
                  <a:srgbClr val="4A5568"/>
                </a:solidFill>
              </a:rPr>
              <a:t>Strategy decks, architecture diagrams, scanned PDFs, images — the real artifacts clients upload, all through one API.</a:t>
            </a:r>
            <a:endParaRPr lang="en-US" sz="1250" dirty="0"/>
          </a:p>
        </p:txBody>
      </p:sp>
      <p:sp>
        <p:nvSpPr>
          <p:cNvPr id="7" name="Shape 5"/>
          <p:cNvSpPr/>
          <p:nvPr/>
        </p:nvSpPr>
        <p:spPr>
          <a:xfrm>
            <a:off x="6217920" y="1874520"/>
            <a:ext cx="5303520" cy="1280160"/>
          </a:xfrm>
          <a:prstGeom prst="roundRect">
            <a:avLst>
              <a:gd name="adj" fmla="val 5714"/>
            </a:avLst>
          </a:prstGeom>
          <a:solidFill>
            <a:srgbClr val="F4F6F8"/>
          </a:solidFill>
          <a:ln w="12700">
            <a:solidFill>
              <a:srgbClr val="E3E6E4"/>
            </a:solidFill>
            <a:prstDash val="solid"/>
          </a:ln>
        </p:spPr>
      </p:sp>
      <p:sp>
        <p:nvSpPr>
          <p:cNvPr id="8" name="Text 6"/>
          <p:cNvSpPr txBox="1"/>
          <p:nvPr/>
        </p:nvSpPr>
        <p:spPr>
          <a:xfrm>
            <a:off x="6473952" y="2057400"/>
            <a:ext cx="4846320" cy="365760"/>
          </a:xfrm>
          <a:prstGeom prst="rect">
            <a:avLst/>
          </a:prstGeom>
          <a:noFill/>
          <a:ln/>
        </p:spPr>
        <p:txBody>
          <a:bodyPr wrap="square" lIns="0" tIns="0" rIns="0" bIns="0" rtlCol="0" anchor="t"/>
          <a:lstStyle/>
          <a:p>
            <a:pPr algn="l" indent="0" marL="0">
              <a:buNone/>
            </a:pPr>
            <a:r>
              <a:rPr lang="en-US" sz="1550" b="1" dirty="0">
                <a:solidFill>
                  <a:srgbClr val="14213D"/>
                </a:solidFill>
              </a:rPr>
              <a:t>Out-of-band by design</a:t>
            </a:r>
            <a:endParaRPr lang="en-US" sz="1550" dirty="0"/>
          </a:p>
        </p:txBody>
      </p:sp>
      <p:sp>
        <p:nvSpPr>
          <p:cNvPr id="9" name="Text 7"/>
          <p:cNvSpPr txBox="1"/>
          <p:nvPr/>
        </p:nvSpPr>
        <p:spPr>
          <a:xfrm>
            <a:off x="6473952" y="2441448"/>
            <a:ext cx="4846320" cy="640080"/>
          </a:xfrm>
          <a:prstGeom prst="rect">
            <a:avLst/>
          </a:prstGeom>
          <a:noFill/>
          <a:ln/>
        </p:spPr>
        <p:txBody>
          <a:bodyPr wrap="square" lIns="0" tIns="0" rIns="0" bIns="0" rtlCol="0" anchor="t"/>
          <a:lstStyle/>
          <a:p>
            <a:pPr algn="l" indent="0" marL="0">
              <a:buNone/>
            </a:pPr>
            <a:r>
              <a:rPr lang="en-US" sz="1250" dirty="0">
                <a:solidFill>
                  <a:srgbClr val="4A5568"/>
                </a:solidFill>
              </a:rPr>
              <a:t>Async + events keep extraction off the conversation's critical path. The agent never blocks on a slow parse.</a:t>
            </a:r>
            <a:endParaRPr lang="en-US" sz="1250" dirty="0"/>
          </a:p>
        </p:txBody>
      </p:sp>
      <p:sp>
        <p:nvSpPr>
          <p:cNvPr id="10" name="Shape 8"/>
          <p:cNvSpPr/>
          <p:nvPr/>
        </p:nvSpPr>
        <p:spPr>
          <a:xfrm>
            <a:off x="640080" y="3264408"/>
            <a:ext cx="5303520" cy="1280160"/>
          </a:xfrm>
          <a:prstGeom prst="roundRect">
            <a:avLst>
              <a:gd name="adj" fmla="val 5714"/>
            </a:avLst>
          </a:prstGeom>
          <a:solidFill>
            <a:srgbClr val="F4F6F8"/>
          </a:solidFill>
          <a:ln w="12700">
            <a:solidFill>
              <a:srgbClr val="E3E6E4"/>
            </a:solidFill>
            <a:prstDash val="solid"/>
          </a:ln>
        </p:spPr>
      </p:sp>
      <p:sp>
        <p:nvSpPr>
          <p:cNvPr id="11" name="Text 9"/>
          <p:cNvSpPr txBox="1"/>
          <p:nvPr/>
        </p:nvSpPr>
        <p:spPr>
          <a:xfrm>
            <a:off x="896112" y="3447288"/>
            <a:ext cx="4846320" cy="365760"/>
          </a:xfrm>
          <a:prstGeom prst="rect">
            <a:avLst/>
          </a:prstGeom>
          <a:noFill/>
          <a:ln/>
        </p:spPr>
        <p:txBody>
          <a:bodyPr wrap="square" lIns="0" tIns="0" rIns="0" bIns="0" rtlCol="0" anchor="t"/>
          <a:lstStyle/>
          <a:p>
            <a:pPr algn="l" indent="0" marL="0">
              <a:buNone/>
            </a:pPr>
            <a:r>
              <a:rPr lang="en-US" sz="1550" b="1" dirty="0">
                <a:solidFill>
                  <a:srgbClr val="14213D"/>
                </a:solidFill>
              </a:rPr>
              <a:t>Markdown the agent can ground on</a:t>
            </a:r>
            <a:endParaRPr lang="en-US" sz="1550" dirty="0"/>
          </a:p>
        </p:txBody>
      </p:sp>
      <p:sp>
        <p:nvSpPr>
          <p:cNvPr id="12" name="Text 10"/>
          <p:cNvSpPr txBox="1"/>
          <p:nvPr/>
        </p:nvSpPr>
        <p:spPr>
          <a:xfrm>
            <a:off x="896112" y="3831336"/>
            <a:ext cx="4846320" cy="640080"/>
          </a:xfrm>
          <a:prstGeom prst="rect">
            <a:avLst/>
          </a:prstGeom>
          <a:noFill/>
          <a:ln/>
        </p:spPr>
        <p:txBody>
          <a:bodyPr wrap="square" lIns="0" tIns="0" rIns="0" bIns="0" rtlCol="0" anchor="t"/>
          <a:lstStyle/>
          <a:p>
            <a:pPr algn="l" indent="0" marL="0">
              <a:buNone/>
            </a:pPr>
            <a:r>
              <a:rPr lang="en-US" sz="1250" dirty="0">
                <a:solidFill>
                  <a:srgbClr val="4A5568"/>
                </a:solidFill>
              </a:rPr>
              <a:t>Reading-order text, tables and diagram summaries land as clean, chunk-ready markdown — no custom parser to maintain.</a:t>
            </a:r>
            <a:endParaRPr lang="en-US" sz="1250" dirty="0"/>
          </a:p>
        </p:txBody>
      </p:sp>
      <p:sp>
        <p:nvSpPr>
          <p:cNvPr id="13" name="Shape 11"/>
          <p:cNvSpPr/>
          <p:nvPr/>
        </p:nvSpPr>
        <p:spPr>
          <a:xfrm>
            <a:off x="6217920" y="3264408"/>
            <a:ext cx="5303520" cy="1280160"/>
          </a:xfrm>
          <a:prstGeom prst="roundRect">
            <a:avLst>
              <a:gd name="adj" fmla="val 5714"/>
            </a:avLst>
          </a:prstGeom>
          <a:solidFill>
            <a:srgbClr val="F4F6F8"/>
          </a:solidFill>
          <a:ln w="12700">
            <a:solidFill>
              <a:srgbClr val="E3E6E4"/>
            </a:solidFill>
            <a:prstDash val="solid"/>
          </a:ln>
        </p:spPr>
      </p:sp>
      <p:sp>
        <p:nvSpPr>
          <p:cNvPr id="14" name="Text 12"/>
          <p:cNvSpPr txBox="1"/>
          <p:nvPr/>
        </p:nvSpPr>
        <p:spPr>
          <a:xfrm>
            <a:off x="6473952" y="3447288"/>
            <a:ext cx="4846320" cy="365760"/>
          </a:xfrm>
          <a:prstGeom prst="rect">
            <a:avLst/>
          </a:prstGeom>
          <a:noFill/>
          <a:ln/>
        </p:spPr>
        <p:txBody>
          <a:bodyPr wrap="square" lIns="0" tIns="0" rIns="0" bIns="0" rtlCol="0" anchor="t"/>
          <a:lstStyle/>
          <a:p>
            <a:pPr algn="l" indent="0" marL="0">
              <a:buNone/>
            </a:pPr>
            <a:r>
              <a:rPr lang="en-US" sz="1550" b="1" dirty="0">
                <a:solidFill>
                  <a:srgbClr val="14213D"/>
                </a:solidFill>
              </a:rPr>
              <a:t>Confidence for grounding readiness</a:t>
            </a:r>
            <a:endParaRPr lang="en-US" sz="1550" dirty="0"/>
          </a:p>
        </p:txBody>
      </p:sp>
      <p:sp>
        <p:nvSpPr>
          <p:cNvPr id="15" name="Text 13"/>
          <p:cNvSpPr txBox="1"/>
          <p:nvPr/>
        </p:nvSpPr>
        <p:spPr>
          <a:xfrm>
            <a:off x="6473952" y="3831336"/>
            <a:ext cx="4846320" cy="640080"/>
          </a:xfrm>
          <a:prstGeom prst="rect">
            <a:avLst/>
          </a:prstGeom>
          <a:noFill/>
          <a:ln/>
        </p:spPr>
        <p:txBody>
          <a:bodyPr wrap="square" lIns="0" tIns="0" rIns="0" bIns="0" rtlCol="0" anchor="t"/>
          <a:lstStyle/>
          <a:p>
            <a:pPr algn="l" indent="0" marL="0">
              <a:buNone/>
            </a:pPr>
            <a:r>
              <a:rPr lang="en-US" sz="1250" dirty="0">
                <a:solidFill>
                  <a:srgbClr val="4A5568"/>
                </a:solidFill>
              </a:rPr>
              <a:t>Per-field scores tell us when extraction is trustworthy enough to answer, and when to flag or route to an analyst.</a:t>
            </a:r>
            <a:endParaRPr lang="en-US" sz="1250" dirty="0"/>
          </a:p>
        </p:txBody>
      </p:sp>
      <p:sp>
        <p:nvSpPr>
          <p:cNvPr id="16" name="Shape 14"/>
          <p:cNvSpPr/>
          <p:nvPr/>
        </p:nvSpPr>
        <p:spPr>
          <a:xfrm>
            <a:off x="640080" y="4654296"/>
            <a:ext cx="5303520" cy="1280160"/>
          </a:xfrm>
          <a:prstGeom prst="roundRect">
            <a:avLst>
              <a:gd name="adj" fmla="val 5714"/>
            </a:avLst>
          </a:prstGeom>
          <a:solidFill>
            <a:srgbClr val="F4F6F8"/>
          </a:solidFill>
          <a:ln w="12700">
            <a:solidFill>
              <a:srgbClr val="E3E6E4"/>
            </a:solidFill>
            <a:prstDash val="solid"/>
          </a:ln>
        </p:spPr>
      </p:sp>
      <p:sp>
        <p:nvSpPr>
          <p:cNvPr id="17" name="Text 15"/>
          <p:cNvSpPr txBox="1"/>
          <p:nvPr/>
        </p:nvSpPr>
        <p:spPr>
          <a:xfrm>
            <a:off x="896112" y="4837176"/>
            <a:ext cx="4846320" cy="365760"/>
          </a:xfrm>
          <a:prstGeom prst="rect">
            <a:avLst/>
          </a:prstGeom>
          <a:noFill/>
          <a:ln/>
        </p:spPr>
        <p:txBody>
          <a:bodyPr wrap="square" lIns="0" tIns="0" rIns="0" bIns="0" rtlCol="0" anchor="t"/>
          <a:lstStyle/>
          <a:p>
            <a:pPr algn="l" indent="0" marL="0">
              <a:buNone/>
            </a:pPr>
            <a:r>
              <a:rPr lang="en-US" sz="1550" b="1" dirty="0">
                <a:solidFill>
                  <a:srgbClr val="14213D"/>
                </a:solidFill>
              </a:rPr>
              <a:t>Native PII, no bolt-on</a:t>
            </a:r>
            <a:endParaRPr lang="en-US" sz="1550" dirty="0"/>
          </a:p>
        </p:txBody>
      </p:sp>
      <p:sp>
        <p:nvSpPr>
          <p:cNvPr id="18" name="Text 16"/>
          <p:cNvSpPr txBox="1"/>
          <p:nvPr/>
        </p:nvSpPr>
        <p:spPr>
          <a:xfrm>
            <a:off x="896112" y="5221224"/>
            <a:ext cx="4846320" cy="640080"/>
          </a:xfrm>
          <a:prstGeom prst="rect">
            <a:avLst/>
          </a:prstGeom>
          <a:noFill/>
          <a:ln/>
        </p:spPr>
        <p:txBody>
          <a:bodyPr wrap="square" lIns="0" tIns="0" rIns="0" bIns="0" rtlCol="0" anchor="t"/>
          <a:lstStyle/>
          <a:p>
            <a:pPr algn="l" indent="0" marL="0">
              <a:buNone/>
            </a:pPr>
            <a:r>
              <a:rPr lang="en-US" sz="1250" dirty="0">
                <a:solidFill>
                  <a:srgbClr val="4A5568"/>
                </a:solidFill>
              </a:rPr>
              <a:t>Client documents are scrubbed inside the pipeline before they rest in S3 — governance without extra moving parts.</a:t>
            </a:r>
            <a:endParaRPr lang="en-US" sz="1250" dirty="0"/>
          </a:p>
        </p:txBody>
      </p:sp>
      <p:sp>
        <p:nvSpPr>
          <p:cNvPr id="19" name="Shape 17"/>
          <p:cNvSpPr/>
          <p:nvPr/>
        </p:nvSpPr>
        <p:spPr>
          <a:xfrm>
            <a:off x="6217920" y="4654296"/>
            <a:ext cx="5303520" cy="1280160"/>
          </a:xfrm>
          <a:prstGeom prst="roundRect">
            <a:avLst>
              <a:gd name="adj" fmla="val 5714"/>
            </a:avLst>
          </a:prstGeom>
          <a:solidFill>
            <a:srgbClr val="F4F6F8"/>
          </a:solidFill>
          <a:ln w="12700">
            <a:solidFill>
              <a:srgbClr val="E3E6E4"/>
            </a:solidFill>
            <a:prstDash val="solid"/>
          </a:ln>
        </p:spPr>
      </p:sp>
      <p:sp>
        <p:nvSpPr>
          <p:cNvPr id="20" name="Text 18"/>
          <p:cNvSpPr txBox="1"/>
          <p:nvPr/>
        </p:nvSpPr>
        <p:spPr>
          <a:xfrm>
            <a:off x="6473952" y="4837176"/>
            <a:ext cx="4846320" cy="365760"/>
          </a:xfrm>
          <a:prstGeom prst="rect">
            <a:avLst/>
          </a:prstGeom>
          <a:noFill/>
          <a:ln/>
        </p:spPr>
        <p:txBody>
          <a:bodyPr wrap="square" lIns="0" tIns="0" rIns="0" bIns="0" rtlCol="0" anchor="t"/>
          <a:lstStyle/>
          <a:p>
            <a:pPr algn="l" indent="0" marL="0">
              <a:buNone/>
            </a:pPr>
            <a:r>
              <a:rPr lang="en-US" sz="1550" b="1" dirty="0">
                <a:solidFill>
                  <a:srgbClr val="14213D"/>
                </a:solidFill>
              </a:rPr>
              <a:t>Managed = less to run</a:t>
            </a:r>
            <a:endParaRPr lang="en-US" sz="1550" dirty="0"/>
          </a:p>
        </p:txBody>
      </p:sp>
      <p:sp>
        <p:nvSpPr>
          <p:cNvPr id="21" name="Text 19"/>
          <p:cNvSpPr txBox="1"/>
          <p:nvPr/>
        </p:nvSpPr>
        <p:spPr>
          <a:xfrm>
            <a:off x="6473952" y="5221224"/>
            <a:ext cx="4846320" cy="640080"/>
          </a:xfrm>
          <a:prstGeom prst="rect">
            <a:avLst/>
          </a:prstGeom>
          <a:noFill/>
          <a:ln/>
        </p:spPr>
        <p:txBody>
          <a:bodyPr wrap="square" lIns="0" tIns="0" rIns="0" bIns="0" rtlCol="0" anchor="t"/>
          <a:lstStyle/>
          <a:p>
            <a:pPr algn="l" indent="0" marL="0">
              <a:buNone/>
            </a:pPr>
            <a:r>
              <a:rPr lang="en-US" sz="1250" dirty="0">
                <a:solidFill>
                  <a:srgbClr val="4A5568"/>
                </a:solidFill>
              </a:rPr>
              <a:t>No OCR stack, no model routing, no fine-tuning to own. Terraform provisions it; the team ships product.</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ph idx="100" type="body" hasCustomPrompt="1"/>
          </p:nvPr>
        </p:nvSpPr>
        <p:spPr>
          <a:xfrm>
            <a:off x="822960" y="868680"/>
            <a:ext cx="10515600" cy="365760"/>
          </a:xfrm>
          <a:prstGeom prst="rect">
            <a:avLst/>
          </a:prstGeom>
          <a:noFill/>
          <a:ln/>
        </p:spPr>
        <p:txBody>
          <a:bodyPr wrap="square" lIns="0" tIns="0" rIns="0" bIns="0" rtlCol="0" anchor="t"/>
          <a:lstStyle/>
          <a:p>
            <a:pPr algn="l" indent="0" marL="0">
              <a:buNone/>
            </a:pPr>
            <a:r>
              <a:rPr lang="en-US" sz="1400" b="1" spc="200" kern="0" dirty="0">
                <a:solidFill>
                  <a:srgbClr val="60A5FA"/>
                </a:solidFill>
                <a:latin typeface="Consolas" pitchFamily="34" charset="0"/>
                <a:ea typeface="Consolas" pitchFamily="34" charset="-122"/>
                <a:cs typeface="Consolas" pitchFamily="34" charset="-120"/>
              </a:rPr>
              <a:t>TAKEAWAYS</a:t>
            </a:r>
            <a:endParaRPr lang="en-US" sz="1400" dirty="0"/>
          </a:p>
        </p:txBody>
      </p:sp>
      <p:sp>
        <p:nvSpPr>
          <p:cNvPr id="3" name="Text 0"/>
          <p:cNvSpPr txBox="1"/>
          <p:nvPr>
            <p:ph idx="101" type="title" hasCustomPrompt="1"/>
          </p:nvPr>
        </p:nvSpPr>
        <p:spPr>
          <a:xfrm>
            <a:off x="822960" y="1280160"/>
            <a:ext cx="10515600" cy="2011680"/>
          </a:xfrm>
          <a:prstGeom prst="rect">
            <a:avLst/>
          </a:prstGeom>
          <a:noFill/>
          <a:ln/>
        </p:spPr>
        <p:txBody>
          <a:bodyPr wrap="square" lIns="0" tIns="0" rIns="0" bIns="0" rtlCol="0" anchor="t"/>
          <a:lstStyle/>
          <a:p>
            <a:pPr algn="l" indent="0" marL="0">
              <a:buNone/>
            </a:pPr>
            <a:r>
              <a:rPr lang="en-US" sz="4400" b="1" dirty="0">
                <a:solidFill>
                  <a:srgbClr val="FFFFFF"/>
                </a:solidFill>
                <a:latin typeface="Calibri" pitchFamily="34" charset="0"/>
                <a:ea typeface="Calibri" pitchFamily="34" charset="-122"/>
                <a:cs typeface="Calibri" pitchFamily="34" charset="-120"/>
              </a:rPr>
              <a:t>What to carry out of the room</a:t>
            </a:r>
            <a:endParaRPr lang="en-US" sz="4400" dirty="0"/>
          </a:p>
        </p:txBody>
      </p:sp>
      <p:sp>
        <p:nvSpPr>
          <p:cNvPr id="4" name="Text 2"/>
          <p:cNvSpPr txBox="1"/>
          <p:nvPr/>
        </p:nvSpPr>
        <p:spPr>
          <a:xfrm>
            <a:off x="822960" y="3200400"/>
            <a:ext cx="548640" cy="548640"/>
          </a:xfrm>
          <a:prstGeom prst="rect">
            <a:avLst/>
          </a:prstGeom>
          <a:noFill/>
          <a:ln/>
        </p:spPr>
        <p:txBody>
          <a:bodyPr wrap="square" lIns="0" tIns="0" rIns="0" bIns="0" rtlCol="0" anchor="t"/>
          <a:lstStyle/>
          <a:p>
            <a:pPr algn="l" indent="0" marL="0">
              <a:buNone/>
            </a:pPr>
            <a:r>
              <a:rPr lang="en-US" sz="2800" b="1" dirty="0">
                <a:solidFill>
                  <a:srgbClr val="60A5FA"/>
                </a:solidFill>
                <a:latin typeface="Consolas" pitchFamily="34" charset="0"/>
                <a:ea typeface="Consolas" pitchFamily="34" charset="-122"/>
                <a:cs typeface="Consolas" pitchFamily="34" charset="-120"/>
              </a:rPr>
              <a:t>1</a:t>
            </a:r>
            <a:endParaRPr lang="en-US" sz="2800" dirty="0"/>
          </a:p>
        </p:txBody>
      </p:sp>
      <p:sp>
        <p:nvSpPr>
          <p:cNvPr id="5" name="Text 3"/>
          <p:cNvSpPr txBox="1"/>
          <p:nvPr/>
        </p:nvSpPr>
        <p:spPr>
          <a:xfrm>
            <a:off x="1508760" y="3218688"/>
            <a:ext cx="9784080" cy="777240"/>
          </a:xfrm>
          <a:prstGeom prst="rect">
            <a:avLst/>
          </a:prstGeom>
          <a:noFill/>
          <a:ln/>
        </p:spPr>
        <p:txBody>
          <a:bodyPr wrap="square" lIns="0" tIns="0" rIns="0" bIns="0" rtlCol="0" anchor="t"/>
          <a:lstStyle/>
          <a:p>
            <a:pPr algn="l" indent="0" marL="0">
              <a:buNone/>
            </a:pPr>
            <a:r>
              <a:rPr lang="en-US" sz="1600" dirty="0">
                <a:solidFill>
                  <a:srgbClr val="FFFFFF"/>
                </a:solidFill>
              </a:rPr>
              <a:t>AskGartner = Gartner research + your own documents. BDA is the engine that reads the documents; the product is the grounded answer.</a:t>
            </a:r>
            <a:endParaRPr lang="en-US" sz="1600" dirty="0"/>
          </a:p>
        </p:txBody>
      </p:sp>
      <p:sp>
        <p:nvSpPr>
          <p:cNvPr id="6" name="Text 4"/>
          <p:cNvSpPr txBox="1"/>
          <p:nvPr/>
        </p:nvSpPr>
        <p:spPr>
          <a:xfrm>
            <a:off x="822960" y="3986784"/>
            <a:ext cx="548640" cy="548640"/>
          </a:xfrm>
          <a:prstGeom prst="rect">
            <a:avLst/>
          </a:prstGeom>
          <a:noFill/>
          <a:ln/>
        </p:spPr>
        <p:txBody>
          <a:bodyPr wrap="square" lIns="0" tIns="0" rIns="0" bIns="0" rtlCol="0" anchor="t"/>
          <a:lstStyle/>
          <a:p>
            <a:pPr algn="l" indent="0" marL="0">
              <a:buNone/>
            </a:pPr>
            <a:r>
              <a:rPr lang="en-US" sz="2800" b="1" dirty="0">
                <a:solidFill>
                  <a:srgbClr val="60A5FA"/>
                </a:solidFill>
                <a:latin typeface="Consolas" pitchFamily="34" charset="0"/>
                <a:ea typeface="Consolas" pitchFamily="34" charset="-122"/>
                <a:cs typeface="Consolas" pitchFamily="34" charset="-120"/>
              </a:rPr>
              <a:t>2</a:t>
            </a:r>
            <a:endParaRPr lang="en-US" sz="2800" dirty="0"/>
          </a:p>
        </p:txBody>
      </p:sp>
      <p:sp>
        <p:nvSpPr>
          <p:cNvPr id="7" name="Text 5"/>
          <p:cNvSpPr txBox="1"/>
          <p:nvPr/>
        </p:nvSpPr>
        <p:spPr>
          <a:xfrm>
            <a:off x="1508760" y="4005072"/>
            <a:ext cx="9784080" cy="777240"/>
          </a:xfrm>
          <a:prstGeom prst="rect">
            <a:avLst/>
          </a:prstGeom>
          <a:noFill/>
          <a:ln/>
        </p:spPr>
        <p:txBody>
          <a:bodyPr wrap="square" lIns="0" tIns="0" rIns="0" bIns="0" rtlCol="0" anchor="t"/>
          <a:lstStyle/>
          <a:p>
            <a:pPr algn="l" indent="0" marL="0">
              <a:buNone/>
            </a:pPr>
            <a:r>
              <a:rPr lang="en-US" sz="1600" dirty="0">
                <a:solidFill>
                  <a:srgbClr val="FFFFFF"/>
                </a:solidFill>
              </a:rPr>
              <a:t>Extraction runs async and out-of-band — the conversation never blocks on a slow parse, and security always clears before parsing.</a:t>
            </a:r>
            <a:endParaRPr lang="en-US" sz="1600" dirty="0"/>
          </a:p>
        </p:txBody>
      </p:sp>
      <p:sp>
        <p:nvSpPr>
          <p:cNvPr id="8" name="Text 6"/>
          <p:cNvSpPr txBox="1"/>
          <p:nvPr/>
        </p:nvSpPr>
        <p:spPr>
          <a:xfrm>
            <a:off x="822960" y="4773168"/>
            <a:ext cx="548640" cy="548640"/>
          </a:xfrm>
          <a:prstGeom prst="rect">
            <a:avLst/>
          </a:prstGeom>
          <a:noFill/>
          <a:ln/>
        </p:spPr>
        <p:txBody>
          <a:bodyPr wrap="square" lIns="0" tIns="0" rIns="0" bIns="0" rtlCol="0" anchor="t"/>
          <a:lstStyle/>
          <a:p>
            <a:pPr algn="l" indent="0" marL="0">
              <a:buNone/>
            </a:pPr>
            <a:r>
              <a:rPr lang="en-US" sz="2800" b="1" dirty="0">
                <a:solidFill>
                  <a:srgbClr val="60A5FA"/>
                </a:solidFill>
                <a:latin typeface="Consolas" pitchFamily="34" charset="0"/>
                <a:ea typeface="Consolas" pitchFamily="34" charset="-122"/>
                <a:cs typeface="Consolas" pitchFamily="34" charset="-120"/>
              </a:rPr>
              <a:t>3</a:t>
            </a:r>
            <a:endParaRPr lang="en-US" sz="2800" dirty="0"/>
          </a:p>
        </p:txBody>
      </p:sp>
      <p:sp>
        <p:nvSpPr>
          <p:cNvPr id="9" name="Text 7"/>
          <p:cNvSpPr txBox="1"/>
          <p:nvPr/>
        </p:nvSpPr>
        <p:spPr>
          <a:xfrm>
            <a:off x="1508760" y="4791456"/>
            <a:ext cx="9784080" cy="777240"/>
          </a:xfrm>
          <a:prstGeom prst="rect">
            <a:avLst/>
          </a:prstGeom>
          <a:noFill/>
          <a:ln/>
        </p:spPr>
        <p:txBody>
          <a:bodyPr wrap="square" lIns="0" tIns="0" rIns="0" bIns="0" rtlCol="0" anchor="t"/>
          <a:lstStyle/>
          <a:p>
            <a:pPr algn="l" indent="0" marL="0">
              <a:buNone/>
            </a:pPr>
            <a:r>
              <a:rPr lang="en-US" sz="1600" dirty="0">
                <a:solidFill>
                  <a:srgbClr val="FFFFFF"/>
                </a:solidFill>
              </a:rPr>
              <a:t>Everything is session-scoped and ephemeral. Isolation by actor/session/file; no cross-session persistence in v1.</a:t>
            </a:r>
            <a:endParaRPr lang="en-US" sz="1600" dirty="0"/>
          </a:p>
        </p:txBody>
      </p:sp>
      <p:sp>
        <p:nvSpPr>
          <p:cNvPr id="10" name="Text 8"/>
          <p:cNvSpPr txBox="1"/>
          <p:nvPr/>
        </p:nvSpPr>
        <p:spPr>
          <a:xfrm>
            <a:off x="822960" y="5559552"/>
            <a:ext cx="548640" cy="548640"/>
          </a:xfrm>
          <a:prstGeom prst="rect">
            <a:avLst/>
          </a:prstGeom>
          <a:noFill/>
          <a:ln/>
        </p:spPr>
        <p:txBody>
          <a:bodyPr wrap="square" lIns="0" tIns="0" rIns="0" bIns="0" rtlCol="0" anchor="t"/>
          <a:lstStyle/>
          <a:p>
            <a:pPr algn="l" indent="0" marL="0">
              <a:buNone/>
            </a:pPr>
            <a:r>
              <a:rPr lang="en-US" sz="2800" b="1" dirty="0">
                <a:solidFill>
                  <a:srgbClr val="60A5FA"/>
                </a:solidFill>
                <a:latin typeface="Consolas" pitchFamily="34" charset="0"/>
                <a:ea typeface="Consolas" pitchFamily="34" charset="-122"/>
                <a:cs typeface="Consolas" pitchFamily="34" charset="-120"/>
              </a:rPr>
              <a:t>4</a:t>
            </a:r>
            <a:endParaRPr lang="en-US" sz="2800" dirty="0"/>
          </a:p>
        </p:txBody>
      </p:sp>
      <p:sp>
        <p:nvSpPr>
          <p:cNvPr id="11" name="Text 9"/>
          <p:cNvSpPr txBox="1"/>
          <p:nvPr/>
        </p:nvSpPr>
        <p:spPr>
          <a:xfrm>
            <a:off x="1508760" y="5577840"/>
            <a:ext cx="9784080" cy="777240"/>
          </a:xfrm>
          <a:prstGeom prst="rect">
            <a:avLst/>
          </a:prstGeom>
          <a:noFill/>
          <a:ln/>
        </p:spPr>
        <p:txBody>
          <a:bodyPr wrap="square" lIns="0" tIns="0" rIns="0" bIns="0" rtlCol="0" anchor="t"/>
          <a:lstStyle/>
          <a:p>
            <a:pPr algn="l" indent="0" marL="0">
              <a:buNone/>
            </a:pPr>
            <a:r>
              <a:rPr lang="en-US" sz="1600" dirty="0">
                <a:solidFill>
                  <a:srgbClr val="FFFFFF"/>
                </a:solidFill>
              </a:rPr>
              <a:t>It fails loudly and degrades by tier — T3 routes to a human analyst with context intact. Multi-region active, fully instrumented.</a:t>
            </a:r>
            <a:endParaRPr lang="en-US" sz="1600" dirty="0"/>
          </a:p>
        </p:txBody>
      </p:sp>
      <p:sp>
        <p:nvSpPr>
          <p:cNvPr id="12" name="Text 10"/>
          <p:cNvSpPr txBox="1"/>
          <p:nvPr/>
        </p:nvSpPr>
        <p:spPr>
          <a:xfrm>
            <a:off x="822960" y="6355080"/>
            <a:ext cx="10515600" cy="457200"/>
          </a:xfrm>
          <a:prstGeom prst="rect">
            <a:avLst/>
          </a:prstGeom>
          <a:noFill/>
          <a:ln/>
        </p:spPr>
        <p:txBody>
          <a:bodyPr wrap="square" lIns="0" tIns="0" rIns="0" bIns="0" rtlCol="0" anchor="t"/>
          <a:lstStyle/>
          <a:p>
            <a:pPr algn="l" indent="0" marL="0">
              <a:buNone/>
            </a:pPr>
            <a:r>
              <a:rPr lang="en-US" sz="1500" b="1" dirty="0">
                <a:solidFill>
                  <a:srgbClr val="60A5FA"/>
                </a:solidFill>
              </a:rPr>
              <a:t>Open question: </a:t>
            </a:r>
            <a:pPr algn="l" indent="0" marL="0">
              <a:buNone/>
            </a:pPr>
            <a:r>
              <a:rPr lang="en-US" sz="1500" dirty="0">
                <a:solidFill>
                  <a:srgbClr val="BFD8D5"/>
                </a:solidFill>
              </a:rPr>
              <a:t>what's the next document-heavy flow — beyond AskGartner — worth pointing this pipeline at?</a:t>
            </a:r>
            <a:endParaRPr lang="en-US" sz="1500" dirty="0"/>
          </a:p>
        </p:txBody>
      </p:sp>
      <p:sp>
        <p:nvSpPr>
          <p:cNvPr id="14" name="Text 0"/>
          <p:cNvSpPr/>
          <p:nvPr>
            <p:ph idx="102" type="body" hasCustomPrompt="1"/>
          </p:nvPr>
        </p:nvSpPr>
        <p:spPr>
          <a:xfrm>
            <a:off x="822960" y="3383280"/>
            <a:ext cx="10515600" cy="2560320"/>
          </a:xfrm>
          <a:prstGeom prst="rect">
            <a:avLst/>
          </a:prstGeom>
          <a:noFill/>
          <a:ln/>
        </p:spPr>
        <p:txBody>
          <a:bodyPr wrap="square" lIns="0" tIns="0" rIns="0" bIns="0" rtlCol="0" anchor="t"/>
          <a:lstStyle/>
          <a:p>
            <a:pPr algn="l" indent="0" marL="0">
              <a:buNone/>
            </a:pPr>
            <a:endParaRPr lang="en-US" sz="1800" dirty="0"/>
          </a:p>
        </p:txBody>
      </p:sp>
    </p:spTree>
  </p:cSld>
  <p:clrMapOvr>
    <a:masterClrMapping/>
  </p:clrMapOvr>
</p:sld>
</file>

<file path=ppt/theme/theme1.xml><?xml version="1.0" encoding="utf-8"?>
<a:theme xmlns:a="http://schemas.openxmlformats.org/drawingml/2006/main" name="BDA Engineering">
  <a:themeElements>
    <a:clrScheme name="BDA Engineering">
      <a:dk1>
        <a:srgbClr val="14213D"/>
      </a:dk1>
      <a:lt1>
        <a:srgbClr val="FFFFFF"/>
      </a:lt1>
      <a:dk2>
        <a:srgbClr val="4A5568"/>
      </a:dk2>
      <a:lt2>
        <a:srgbClr val="F4F6F8"/>
      </a:lt2>
      <a:accent1>
        <a:srgbClr val="2563EB"/>
      </a:accent1>
      <a:accent2>
        <a:srgbClr val="60A5FA"/>
      </a:accent2>
      <a:accent3>
        <a:srgbClr val="1E3A8A"/>
      </a:accent3>
      <a:accent4>
        <a:srgbClr val="DBEAFE"/>
      </a:accent4>
      <a:accent5>
        <a:srgbClr val="BFD8D5"/>
      </a:accent5>
      <a:accent6>
        <a:srgbClr val="FBBF24"/>
      </a:accent6>
      <a:hlink>
        <a:srgbClr val="2563EB"/>
      </a:hlink>
      <a:folHlink>
        <a:srgbClr val="1E3A8A"/>
      </a:folHlink>
    </a:clrScheme>
    <a:fontScheme name="BDA Engineerin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ScoreNLearn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BDA &amp; AskGartner</dc:title>
  <dc:subject>PptxGenJS Presentation</dc:subject>
  <dc:creator>Jag</dc:creator>
  <cp:lastModifiedBy>Jag</cp:lastModifiedBy>
  <cp:revision>1</cp:revision>
  <dcterms:created xsi:type="dcterms:W3CDTF">2026-10-19T10:34:08Z</dcterms:created>
  <dcterms:modified xsi:type="dcterms:W3CDTF">2026-10-19T10:34:08Z</dcterms:modified>
</cp:coreProperties>
</file>